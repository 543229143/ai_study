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2.svg" ContentType="image/svg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handoutMasterIdLst>
    <p:handoutMasterId r:id="rId24"/>
  </p:handoutMasterIdLst>
  <p:sldIdLst>
    <p:sldId id="256" r:id="rId3"/>
    <p:sldId id="257" r:id="rId5"/>
    <p:sldId id="258" r:id="rId6"/>
    <p:sldId id="259" r:id="rId7"/>
    <p:sldId id="260" r:id="rId8"/>
    <p:sldId id="276" r:id="rId9"/>
    <p:sldId id="277" r:id="rId10"/>
    <p:sldId id="278" r:id="rId11"/>
    <p:sldId id="279" r:id="rId12"/>
    <p:sldId id="287" r:id="rId13"/>
    <p:sldId id="282" r:id="rId14"/>
    <p:sldId id="281" r:id="rId15"/>
    <p:sldId id="280" r:id="rId16"/>
    <p:sldId id="266" r:id="rId17"/>
    <p:sldId id="283" r:id="rId18"/>
    <p:sldId id="269" r:id="rId19"/>
    <p:sldId id="284" r:id="rId20"/>
    <p:sldId id="286" r:id="rId21"/>
    <p:sldId id="285" r:id="rId22"/>
    <p:sldId id="274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60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95" d="100"/>
          <a:sy n="95" d="100"/>
        </p:scale>
        <p:origin x="76" y="272"/>
      </p:cViewPr>
      <p:guideLst>
        <p:guide orient="horz" pos="160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3284" y="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handoutMaster" Target="handoutMasters/handoutMaster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538B81-46F2-4944-B822-50185F135D0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64FD60-798C-4A50-A2F3-66C288016BB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1905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60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2026年</a:t>
            </a:r>
            <a:r>
              <a:rPr lang="zh-CN" altLang="en-US" sz="60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中</a:t>
            </a:r>
            <a:r>
              <a:rPr lang="en-US" sz="60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汇报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1016000" y="4415155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研发部账务组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5050155"/>
            <a:ext cx="1016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汇报人：赵鑫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762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zh-CN" altLang="en-US" sz="3600" b="1" i="0" u="none" strike="noStrike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644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1549400" y="2184400"/>
            <a:ext cx="533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一、团队概况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549400" y="3073400"/>
            <a:ext cx="533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二、</a:t>
            </a:r>
            <a:r>
              <a:rPr lang="zh-CN" altLang="en-US" sz="2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上半年</a:t>
            </a:r>
            <a:r>
              <a:rPr lang="en-US" sz="24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成果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1549400" y="3962400"/>
            <a:ext cx="533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三、</a:t>
            </a:r>
            <a:r>
              <a:rPr lang="zh-CN" altLang="en-US" sz="2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存在问题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1549400" y="4851400"/>
            <a:ext cx="533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四、</a:t>
            </a:r>
            <a:r>
              <a:rPr lang="zh-CN" altLang="en-US" sz="2400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下半</a:t>
            </a:r>
            <a:r>
              <a:rPr lang="en-US" sz="24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年计划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762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一、团队概况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6192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2700000" y="-12700000"/>
            <a:ext cx="12700" cy="127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74800" y="2159000"/>
            <a:ext cx="914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团队规模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1574800" y="2603500"/>
            <a:ext cx="914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16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5</a:t>
            </a:r>
            <a:r>
              <a:rPr lang="zh-CN" altLang="en-US" sz="16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人组成的技术团队，团队成员稳定</a:t>
            </a:r>
            <a:endParaRPr lang="en-US" sz="1100" dirty="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2700000" y="-12700000"/>
            <a:ext cx="12700" cy="127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74800" y="3492500"/>
            <a:ext cx="914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职责范围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574800" y="3937000"/>
            <a:ext cx="914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产品、账户、借款、还款四大模块</a:t>
            </a:r>
            <a:endParaRPr lang="en-US" sz="1100" dirty="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12700000" y="-12700000"/>
            <a:ext cx="12700" cy="127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574800" y="4826000"/>
            <a:ext cx="914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团队定位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574800" y="5270500"/>
            <a:ext cx="914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负责账务系统的稳健运行，支撑渠道对接、数据分析、营销赋能、运营支持及外部机构协作</a:t>
            </a:r>
            <a:endParaRPr lang="en-US" sz="1600" dirty="0">
              <a:solidFill>
                <a:srgbClr val="333333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598285" y="2785110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2667000"/>
            <a:ext cx="109728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二、</a:t>
            </a:r>
            <a:r>
              <a:rPr lang="zh-CN" altLang="en-US" sz="40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上半年</a:t>
            </a:r>
            <a:r>
              <a:rPr lang="en-US" sz="40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成果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支撑业务增长，推进目标落地</a:t>
            </a:r>
            <a:endParaRPr lang="en-US" sz="1100" dirty="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517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5992" y="1913692"/>
            <a:ext cx="10160000" cy="281173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上半年共参与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95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个需求，处理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个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bug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，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起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P0/P1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故障</a:t>
            </a:r>
            <a:endParaRPr lang="en-US" altLang="zh-CN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endParaRPr lang="zh-CN" altLang="en-US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新增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13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家机构产品上线，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11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家机构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CA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签章对接</a:t>
            </a:r>
            <a:endParaRPr lang="en-US" altLang="zh-CN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endParaRPr lang="zh-CN" altLang="en-US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数据治理一期收尾，异常借据从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3.4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万降至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340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笔</a:t>
            </a:r>
            <a:endParaRPr lang="en-US" altLang="zh-CN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endParaRPr lang="zh-CN" altLang="en-US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数据治理二期合规补充，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45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个产品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67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个问题，全部完成确认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OKR1 - </a:t>
            </a:r>
            <a:r>
              <a:rPr lang="zh-CN" altLang="en-US" sz="3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研发效率提升</a:t>
            </a:r>
            <a:endParaRPr lang="en-US" sz="1100" dirty="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517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1727200"/>
            <a:ext cx="10160000" cy="256966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基于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AI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赋能，标准机构对接（文档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+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开发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+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配置）提效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80%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以上</a:t>
            </a:r>
            <a:endParaRPr lang="en-US" altLang="zh-CN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endParaRPr lang="zh-CN" altLang="en-US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清理无用代码，共计删除约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万行</a:t>
            </a:r>
            <a:endParaRPr lang="en-US" altLang="zh-CN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endParaRPr lang="zh-CN" altLang="en-US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核心链路重构，借款试算已上线，借款申请进行中，账户开户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更新进行中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研发效率提升 </a:t>
            </a:r>
            <a:r>
              <a:rPr lang="en-US" altLang="zh-CN" sz="3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- </a:t>
            </a:r>
            <a:r>
              <a:rPr lang="zh-CN" altLang="en-US" sz="3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账户开户</a:t>
            </a:r>
            <a:r>
              <a:rPr lang="en-US" altLang="zh-CN" sz="3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zh-CN" altLang="en-US" sz="3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更新重构</a:t>
            </a:r>
            <a:endParaRPr lang="en-US" sz="1100" dirty="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517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1465358"/>
            <a:ext cx="10160000" cy="472883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旧架构问题</a:t>
            </a:r>
            <a:endParaRPr lang="zh-CN" altLang="en-US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     核心类膨胀，路由、字段、事件、日志高度耦合，多入口共享方法，靠 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if-else 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区分场景</a:t>
            </a:r>
            <a:endParaRPr lang="zh-CN" altLang="en-US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     链路长、分支多、逻辑交错，变更字段逻辑重复，理解与修改成本高，易出错</a:t>
            </a:r>
            <a:endParaRPr lang="zh-CN" altLang="en-US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endParaRPr lang="zh-CN" altLang="en-US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新架构设计：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Engine + 5 Path Handler</a:t>
            </a:r>
            <a:endParaRPr lang="en-US" altLang="zh-CN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     Engine 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统一调度生命周期：</a:t>
            </a:r>
            <a:endParaRPr lang="zh-CN" altLang="en-US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       前置：校验 → 锁 → 幂等 → 查户 → 组装</a:t>
            </a:r>
            <a:endParaRPr lang="zh-CN" altLang="en-US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       落库：落库 → 保存定价 → 变更日志 → 发送事件</a:t>
            </a:r>
            <a:endParaRPr lang="zh-CN" altLang="en-US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       收尾：后置处理 → 返回结果</a:t>
            </a:r>
            <a:endParaRPr lang="zh-CN" altLang="en-US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endParaRPr lang="zh-CN" altLang="en-US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关键设计决策</a:t>
            </a:r>
            <a:endParaRPr lang="zh-CN" altLang="en-US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     策略模式：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5 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条路径独立 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Handler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，对扩展开放、对修改封闭</a:t>
            </a:r>
            <a:endParaRPr lang="zh-CN" altLang="en-US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     模板方法：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Engine 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固化生命周期，路径差异由 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Handler 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插拔实现</a:t>
            </a:r>
            <a:endParaRPr lang="zh-CN" altLang="en-US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     灰度路由：自研灰度框架支撑，灰度验证 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+ </a:t>
            </a:r>
            <a:r>
              <a:rPr lang="en-US" altLang="zh-CN" sz="16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Nacos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热更新，逐步放量、风险可控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OKR2 - AI </a:t>
            </a:r>
            <a:r>
              <a:rPr lang="zh-CN" altLang="en-US" sz="3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深度赋能</a:t>
            </a:r>
            <a:endParaRPr lang="en-US" sz="1100" dirty="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517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1727200"/>
            <a:ext cx="10160000" cy="26327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Skills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覆盖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15+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场景</a:t>
            </a:r>
            <a:endParaRPr lang="zh-CN" altLang="en-US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     涵盖机构接入、功能开发、代码审查、问题排查、文档生成等，工作效率、代码可用率持续提升</a:t>
            </a:r>
            <a:endParaRPr lang="en-US" altLang="zh-CN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endParaRPr lang="zh-CN" altLang="en-US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Skills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同步工具</a:t>
            </a:r>
            <a:endParaRPr lang="zh-CN" altLang="en-US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     聚合多仓库 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AI Skills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，支持跨工具分发、工作区隔离、自动同步，提升配置标准化和同步效率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AI </a:t>
            </a:r>
            <a:r>
              <a:rPr lang="zh-CN" altLang="en-US" sz="3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深度赋能 </a:t>
            </a:r>
            <a:r>
              <a:rPr lang="en-US" altLang="zh-CN" sz="3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- </a:t>
            </a:r>
            <a:r>
              <a:rPr lang="zh-CN" altLang="en-US" sz="3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 </a:t>
            </a:r>
            <a:r>
              <a:rPr lang="en-US" sz="3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Skills</a:t>
            </a:r>
            <a:endParaRPr lang="en-US" sz="1100" dirty="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517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1511300"/>
            <a:ext cx="10160000" cy="48771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标准新机构接入 </a:t>
            </a:r>
            <a:r>
              <a:rPr lang="en-US" altLang="zh-CN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Skill</a:t>
            </a:r>
            <a:r>
              <a:rPr lang="zh-CN" altLang="en-US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：全自动完成数据库配置、代码修改、参数配置、</a:t>
            </a:r>
            <a:r>
              <a:rPr lang="en-US" altLang="zh-CN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Mock </a:t>
            </a:r>
            <a:r>
              <a:rPr lang="zh-CN" altLang="en-US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接口、文档生成、部署开发环境，幂等安全、每步可追溯</a:t>
            </a:r>
            <a:endParaRPr lang="zh-CN" altLang="en-US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endParaRPr lang="zh-CN" altLang="en-US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非标准新机构接入 </a:t>
            </a:r>
            <a:r>
              <a:rPr lang="en-US" altLang="zh-CN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Skill</a:t>
            </a:r>
            <a:r>
              <a:rPr lang="zh-CN" altLang="en-US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：全自动完成预检、数据库配置、代码生成、参数配置、</a:t>
            </a:r>
            <a:r>
              <a:rPr lang="en-US" altLang="zh-CN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Mock </a:t>
            </a:r>
            <a:r>
              <a:rPr lang="zh-CN" altLang="en-US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接口、文档编写，可从中断处恢复</a:t>
            </a:r>
            <a:endParaRPr lang="zh-CN" altLang="en-US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endParaRPr lang="zh-CN" altLang="en-US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技术文档生成 </a:t>
            </a:r>
            <a:r>
              <a:rPr lang="en-US" altLang="zh-CN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Skill</a:t>
            </a:r>
            <a:r>
              <a:rPr lang="zh-CN" altLang="en-US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：自动扫描多系统代码，生成含 </a:t>
            </a:r>
            <a:r>
              <a:rPr lang="en-US" altLang="zh-CN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Nacos</a:t>
            </a:r>
            <a:r>
              <a:rPr lang="en-US" altLang="zh-CN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zh-CN" altLang="en-US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配置、数据库变更、涉及系统等信息的标准技术设计文档，写完自动校验格式</a:t>
            </a:r>
            <a:endParaRPr lang="zh-CN" altLang="en-US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endParaRPr lang="zh-CN" altLang="en-US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功能开发全流程 </a:t>
            </a:r>
            <a:r>
              <a:rPr lang="en-US" altLang="zh-CN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Skill</a:t>
            </a:r>
            <a:r>
              <a:rPr lang="zh-CN" altLang="en-US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：按技术文档自动执行 </a:t>
            </a:r>
            <a:r>
              <a:rPr lang="en-US" altLang="zh-CN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SQL</a:t>
            </a:r>
            <a:r>
              <a:rPr lang="zh-CN" altLang="en-US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、生成代码、编译部署、代码审查，多个系统按依赖顺序编排，不通过不让走下一步</a:t>
            </a:r>
            <a:endParaRPr lang="zh-CN" altLang="en-US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endParaRPr lang="zh-CN" altLang="en-US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代码审查 </a:t>
            </a:r>
            <a:r>
              <a:rPr lang="en-US" altLang="zh-CN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Skill</a:t>
            </a:r>
            <a:r>
              <a:rPr lang="zh-CN" altLang="en-US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：审查代码标出所有问题，人工决定修哪些不修哪些，</a:t>
            </a:r>
            <a:r>
              <a:rPr lang="en-US" altLang="zh-CN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AI </a:t>
            </a:r>
            <a:r>
              <a:rPr lang="zh-CN" altLang="en-US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执行修复并自动备份，改错可一键还原，审查数据归档留档</a:t>
            </a:r>
            <a:endParaRPr lang="zh-CN" altLang="en-US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endParaRPr lang="zh-CN" altLang="en-US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问题排查 </a:t>
            </a:r>
            <a:r>
              <a:rPr lang="en-US" altLang="zh-CN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Skill</a:t>
            </a:r>
            <a:r>
              <a:rPr lang="zh-CN" altLang="en-US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：用户描述问题现象，自动查日志、查数据库、查代码，多维度交叉分析定位根因，输出排查报告（仅开发</a:t>
            </a:r>
            <a:r>
              <a:rPr lang="en-US" altLang="zh-CN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zh-CN" altLang="en-US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测试环境）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AI </a:t>
            </a:r>
            <a:r>
              <a:rPr lang="zh-CN" altLang="en-US" sz="3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深度赋能 </a:t>
            </a:r>
            <a:r>
              <a:rPr lang="en-US" altLang="zh-CN" sz="3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- </a:t>
            </a:r>
            <a:r>
              <a:rPr lang="zh-CN" altLang="en-US" sz="3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问题排查 </a:t>
            </a:r>
            <a:r>
              <a:rPr lang="en-US" altLang="zh-CN" sz="3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Skill</a:t>
            </a:r>
            <a:endParaRPr lang="en-US" sz="1100" dirty="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517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" name="图片 3" descr="企业微信截图_806e2b29-406e-4775-86ec-e741017419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090" y="1581785"/>
            <a:ext cx="5100320" cy="723900"/>
          </a:xfrm>
          <a:prstGeom prst="rect">
            <a:avLst/>
          </a:prstGeom>
        </p:spPr>
      </p:pic>
      <p:pic>
        <p:nvPicPr>
          <p:cNvPr id="6" name="图片 5" descr="企业微信截图_c2d44886-67d7-4467-a94f-7337f1d5d5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090" y="2326005"/>
            <a:ext cx="8728710" cy="2011680"/>
          </a:xfrm>
          <a:prstGeom prst="rect">
            <a:avLst/>
          </a:prstGeom>
        </p:spPr>
      </p:pic>
      <p:pic>
        <p:nvPicPr>
          <p:cNvPr id="5" name="图片 4" descr="企业微信截图_35fc382d-8653-4555-b312-3278dc7be5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090" y="4443095"/>
            <a:ext cx="4640580" cy="417195"/>
          </a:xfrm>
          <a:prstGeom prst="rect">
            <a:avLst/>
          </a:prstGeom>
        </p:spPr>
      </p:pic>
      <p:pic>
        <p:nvPicPr>
          <p:cNvPr id="7" name="图片 6" descr="企业微信截图_2165bcfe-e420-4220-93fc-375d7b3261ec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090" y="4872990"/>
            <a:ext cx="11184890" cy="192151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OKR3 - </a:t>
            </a:r>
            <a:r>
              <a:rPr lang="zh-CN" altLang="en-US" sz="3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基础建设</a:t>
            </a:r>
            <a:endParaRPr lang="en-US" sz="1100" dirty="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517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1773567"/>
            <a:ext cx="10160000" cy="338672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告警降噪</a:t>
            </a:r>
            <a:endParaRPr lang="zh-CN" altLang="en-US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     重复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漏告警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误告警治理，无效告警减少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90%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，清盘机构告警降噪方案上线</a:t>
            </a:r>
            <a:endParaRPr lang="en-US" altLang="zh-CN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endParaRPr lang="zh-CN" altLang="en-US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新增监控</a:t>
            </a:r>
            <a:endParaRPr lang="zh-CN" altLang="en-US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     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CAT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告警覆盖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19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个系统服务、新增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11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个还款计划告警</a:t>
            </a:r>
            <a:endParaRPr lang="en-US" altLang="zh-CN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endParaRPr lang="zh-CN" altLang="en-US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注释覆盖</a:t>
            </a:r>
            <a:endParaRPr lang="zh-CN" altLang="en-US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     核心类请求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响应注释检查修改完毕，保证业务语义准确性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基础建设 </a:t>
            </a:r>
            <a:r>
              <a:rPr lang="en-US" altLang="zh-CN" sz="3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- </a:t>
            </a:r>
            <a:r>
              <a:rPr lang="zh-CN" altLang="en-US" sz="3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告警降噪成果</a:t>
            </a:r>
            <a:endParaRPr lang="en-US" sz="1100" dirty="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517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文本框 7"/>
          <p:cNvSpPr txBox="1"/>
          <p:nvPr/>
        </p:nvSpPr>
        <p:spPr>
          <a:xfrm>
            <a:off x="1758566" y="1871317"/>
            <a:ext cx="29595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降噪前后告警日志量对比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7202180" y="1871317"/>
            <a:ext cx="36969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账务告警群每15分钟告警量降噪分析对比</a:t>
            </a:r>
            <a:endParaRPr lang="zh-CN" altLang="zh-CN" dirty="0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969" y="2307295"/>
            <a:ext cx="5125780" cy="241306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4512" y="2307295"/>
            <a:ext cx="6193152" cy="243893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团队建设</a:t>
            </a:r>
            <a:endParaRPr lang="en-US" sz="1100" dirty="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517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5992" y="1639066"/>
            <a:ext cx="10160000" cy="284002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核心模块人人可维护，线上问题响应不依赖特定人</a:t>
            </a:r>
            <a:endParaRPr lang="en-US" altLang="zh-CN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endParaRPr lang="zh-CN" altLang="en-US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交叉审查常态化，代码质量由团队共同把关</a:t>
            </a:r>
            <a:endParaRPr lang="en-US" altLang="zh-CN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endParaRPr lang="zh-CN" altLang="en-US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AI 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编码融入日常研发，全员借助 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AI 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持续提效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2667000"/>
            <a:ext cx="109728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三、</a:t>
            </a:r>
            <a:r>
              <a:rPr lang="zh-CN" altLang="en-US" sz="40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存在</a:t>
            </a:r>
            <a:r>
              <a:rPr lang="en-US" sz="40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问题</a:t>
            </a:r>
            <a:endParaRPr lang="en-US" sz="1100" dirty="0"/>
          </a:p>
        </p:txBody>
      </p:sp>
      <p:cxnSp>
        <p:nvCxnSpPr>
          <p:cNvPr id="3" name="Connector 3"/>
          <p:cNvCxnSpPr/>
          <p:nvPr/>
        </p:nvCxnSpPr>
        <p:spPr>
          <a:xfrm rot="-34374">
            <a:off x="5461032" y="4057650"/>
            <a:ext cx="127006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B4B4B4">
                <a:alpha val="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存在问题</a:t>
            </a:r>
            <a:endParaRPr lang="en-US" sz="1100" dirty="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517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1669240"/>
            <a:ext cx="10160000" cy="276962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机构对接，开发联调耗时占比很高，成为提效的主要卡点</a:t>
            </a:r>
            <a:endParaRPr lang="en-US" altLang="zh-CN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endParaRPr lang="en-US" altLang="zh-CN" sz="1600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endParaRPr lang="zh-CN" altLang="en-US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endParaRPr lang="zh-CN" altLang="en-US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AI 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生成代码质量标准差较大，距离可信赖自动放行仍有很大差距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2667000"/>
            <a:ext cx="109728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4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四、</a:t>
            </a:r>
            <a:r>
              <a:rPr lang="zh-CN" altLang="en-US" sz="44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下半年</a:t>
            </a:r>
            <a:r>
              <a:rPr lang="en-US" sz="44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计划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交付提效</a:t>
            </a:r>
            <a:endParaRPr lang="en-US" sz="1100" dirty="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517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1727200"/>
            <a:ext cx="10160000" cy="338672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预设机构联调场景，通过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AI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监控各接口全链路的连通性与数据一致性</a:t>
            </a:r>
            <a:endParaRPr lang="en-US" altLang="zh-CN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endParaRPr lang="zh-CN" altLang="en-US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预设监控点，机构联调时通过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AI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自动扫描相关日志、数据库，异常时自动企业微信告警</a:t>
            </a:r>
            <a:endParaRPr lang="en-US" altLang="zh-CN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endParaRPr lang="zh-CN" altLang="en-US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问题排查 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Skills 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平台化，开发、测试人员自助提交问题，平台自动取证、定位根因并给出解决思路</a:t>
            </a:r>
            <a:endParaRPr lang="en-US" altLang="zh-CN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endParaRPr lang="zh-CN" altLang="en-US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持续缩小非标准与标准机构对接的效率差距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AI </a:t>
            </a:r>
            <a:r>
              <a:rPr lang="zh-CN" altLang="en-US" sz="3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开发工作流平台化</a:t>
            </a:r>
            <a:endParaRPr lang="en-US" sz="1100" dirty="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517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1976086"/>
            <a:ext cx="10160000" cy="24784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串联 技术文档生成 → 功能开发 → 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AI 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代码审查 → 自动部署 完整链路，一键执行，流程可恢复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可共享</a:t>
            </a:r>
            <a:endParaRPr lang="en-US" altLang="zh-CN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endParaRPr lang="en-US" altLang="zh-CN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endParaRPr lang="zh-CN" altLang="en-US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设计记忆，自动沉淀设计方案与决策日志，让会话中的关键思路、取舍理由可落地、可复用，提高生成代码质量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核心链路重构与代码治理</a:t>
            </a:r>
            <a:endParaRPr lang="en-US" sz="1100" dirty="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1517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1622872"/>
            <a:ext cx="10160000" cy="2924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借款申请、账户开户</a:t>
            </a:r>
            <a:r>
              <a:rPr lang="en-US" altLang="zh-CN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更新重构上线，并持续监控验证</a:t>
            </a:r>
            <a:endParaRPr lang="en-US" altLang="zh-CN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endParaRPr lang="zh-CN" altLang="en-US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机构放款还款回调、还款计划刷新等功能，梳理逻辑并重构</a:t>
            </a:r>
            <a:endParaRPr lang="en-US" altLang="zh-CN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endParaRPr lang="zh-CN" altLang="en-US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还款计划等无用代码清理，延续系统瘦身计划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609600" y="2288046"/>
            <a:ext cx="10972800" cy="17367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6000" b="1" i="0" u="none" strike="noStrike" dirty="0" err="1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谢谢大家</a:t>
            </a:r>
            <a:r>
              <a:rPr lang="en-US" sz="6000" b="1" i="0" u="none" strike="noStrike" dirty="0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！</a:t>
            </a:r>
            <a:endParaRPr lang="en-US" sz="6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1950</Words>
  <Application>WPS 表格</Application>
  <PresentationFormat>宽屏</PresentationFormat>
  <Paragraphs>155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4" baseType="lpstr">
      <vt:lpstr>Arial</vt:lpstr>
      <vt:lpstr>宋体</vt:lpstr>
      <vt:lpstr>Wingdings</vt:lpstr>
      <vt:lpstr>Arial</vt:lpstr>
      <vt:lpstr>Noto Sans SC</vt:lpstr>
      <vt:lpstr>Thonburi</vt:lpstr>
      <vt:lpstr>宋体</vt:lpstr>
      <vt:lpstr>汉仪书宋二KW</vt:lpstr>
      <vt:lpstr>微软雅黑</vt:lpstr>
      <vt:lpstr>汉仪旗黑</vt:lpstr>
      <vt:lpstr>Arial Unicode MS</vt:lpstr>
      <vt:lpstr>Noto Sans SC</vt:lpstr>
      <vt:lpstr>苹方-简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赵鑫</cp:lastModifiedBy>
  <cp:revision>34</cp:revision>
  <dcterms:created xsi:type="dcterms:W3CDTF">2026-08-03T02:07:11Z</dcterms:created>
  <dcterms:modified xsi:type="dcterms:W3CDTF">2026-08-03T02:07:11Z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E17AB2BD493F1C6541506F69B22D521E_42</vt:lpwstr>
  </property>
  <property fmtid="{D5CDD505-2E9C-101B-9397-08002B2CF9AE}" pid="3" name="KSOProductBuildVer">
    <vt:lpwstr>2052-6.14.0.8924</vt:lpwstr>
  </property>
</Properties>
</file>