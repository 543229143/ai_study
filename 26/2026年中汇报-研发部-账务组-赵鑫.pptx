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60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7" r:id="rId3"/>
    <p:sldId id="258" r:id="rId4"/>
    <p:sldId id="259" r:id="rId5"/>
    <p:sldId id="260" r:id="rId6"/>
    <p:sldId id="276" r:id="rId7"/>
    <p:sldId id="277" r:id="rId8"/>
    <p:sldId id="278" r:id="rId9"/>
    <p:sldId id="279" r:id="rId10"/>
    <p:sldId id="287" r:id="rId11"/>
    <p:sldId id="282" r:id="rId12"/>
    <p:sldId id="281" r:id="rId13"/>
    <p:sldId id="280" r:id="rId14"/>
    <p:sldId id="266" r:id="rId15"/>
    <p:sldId id="283" r:id="rId16"/>
    <p:sldId id="269" r:id="rId17"/>
    <p:sldId id="284" r:id="rId18"/>
    <p:sldId id="286" r:id="rId19"/>
    <p:sldId id="285" r:id="rId20"/>
    <p:sldId id="274" r:id="rId2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0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95" d="100"/>
          <a:sy n="95" d="100"/>
        </p:scale>
        <p:origin x="76" y="272"/>
      </p:cViewPr>
      <p:guideLst>
        <p:guide orient="horz" pos="16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284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45388D18-20AA-6785-9839-A6E19FB5D1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2E6E370-8A37-F31F-7CF6-B0CD9A27088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538B81-46F2-4944-B822-50185F135D02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EADFA5D-82B4-6B0E-93BE-ACF6631FC9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FA7DBDA-5A01-C7C0-0E2C-7524B7B2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64FD60-798C-4A50-A2F3-66C288016BB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10134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01.08.2026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0F602-4F23-D0A0-3BEC-8609C348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D7345AE-B23A-7554-C632-9C2424A56CD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99B9F7-4BD4-DC15-58C8-DFF96CFE9DB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77022B2-7260-B220-4D0C-43236BF058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04E2040-4691-8A70-3DF5-77FFE74F88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169CC0-DE93-A7CF-D91D-BB96A53D3E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BC8F8-6CEB-F6D1-18AD-C2754E664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330254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031F-328B-1A00-FF22-91588B9B7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9BD1D6B-801D-4B6F-8156-C14D7871E49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AADD0-C6BB-7D71-9B6E-01C505C5FC6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4DB154B-FF40-0FC3-DE1E-F5DBE28539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15E10D7-973C-F2C7-EE16-FC52BD563E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4F495D-311E-9285-E426-C9C7BFACFCD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F4EB3-8BFA-324B-E55D-3081BAB60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4177923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E6CEB-0FEC-72B2-0A92-436A489CC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A1D5060-35DE-2B44-9E59-588DA60993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9A6739-DF7E-DBA4-0832-5FD0FF5D52A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1FD4FBE6-665B-1BA8-98C1-03411D0980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6EDC6ED-3F13-AFCC-E997-C58E472366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3DFC37-6002-DBB7-0377-1720C0CBB7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707C9-0B80-C393-654B-E0A526A2C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582606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4D4E7-A7AB-EF71-8432-EB4AB3690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46F04E2-9670-7332-15A9-E9BBF7E32C7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A24EB9-1F00-F66A-C714-074DF1271B9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EA00C15D-AA93-6210-0757-B0453A6711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E99A446-D590-3ADB-CECA-C40DCECC9A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FE2D18-88B0-37A8-6349-E660393ED6A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F0E00-7FF3-7FA6-B6F6-562F5C9807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646542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DD14B-F02E-92B9-BF04-3F7BB9157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12A663F-8C24-A0A9-D61B-D702A1B2404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CFDF6C-3C90-2765-2124-74CA797EA000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EB3E62DB-B49F-AD07-981C-EF08F81279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606892F-0554-17C6-657B-5B3DEC5E35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C6B6DC-3FA9-F234-8567-B1379E2F4EB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5CD29B-3B04-89F0-DB06-3663CE53BF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7922311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11126-B66F-34B9-E424-012FCBEB2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A244D-419E-D0DF-8549-19902BDF3D7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F7B882-939B-7C48-9F31-65B6640E725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91742ABD-2AE6-FA8A-5AF2-2A97E554E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E935BBA-71B9-DBB7-3DFB-06C9AACFCB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381A6-FE4F-0B2F-D390-F59ACF6A984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6C0D8-1A70-8397-9728-5746A86695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0661383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397F8-2642-F1CE-3E15-0826AEEDB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61F3D55-86C2-72C4-7C1C-BC7F5FBF33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DAB718-8485-46AF-4F8B-713687E5CA9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1391E189-9AA6-44D1-2E00-B1A2DB979D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34008F4-07B5-7A86-5424-E44EB8B21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D57B1D-CB17-AED5-DFBB-24F40E15847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7722BE-7579-2BAA-713C-C0B5543AF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9205829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F2545-46EA-5AA8-6AA2-87BF6BF9D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7E22D7E-534D-F086-928E-9DD05D75DF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EE26C3-E349-2FBF-E374-A6FCD179DA9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BBCA416B-B912-5BA3-C597-A128F7FA4E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36773B82-D924-7721-5DF0-A35DCD71B9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64D4A6-D5C5-EA7C-C2A9-5D1EF7922D2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69EFC-2A08-9205-984C-7F2259708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0966565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6004A-4C73-ECD7-468F-D0773BD9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705CC7B-CA84-65D8-6052-546CAF27A88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1F5BCA-C642-EA80-474A-E8BDA6A4F3C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23A28CF7-A6FF-46A2-5806-622FFD9BC2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0C0CF19-7B19-882A-101D-E094338C3C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88B9E3-E688-E60D-BF20-943CF96AF8C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3230C4-1EDB-B3E5-97E7-9527CF329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6201848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73575-183D-1661-E525-7D584FA93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1FD6208-93C2-04DC-D29D-7775B21B0C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BEB3DB-22CD-E77A-514A-50B6747457F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B982C20-5E3C-F776-39ED-695450BA7D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3432866D-ECBA-7B1C-A1A8-31EE7B1A98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69FA49-9938-DC93-73C3-A87F669A8E8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5C39A3-2BE4-4455-386A-EE13889203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2920084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D71E5-9B45-5717-355D-8862109C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8F97342-4309-66C3-37B3-6326F66A06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7B3E28-18D2-6340-B140-9ABF3605A6B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E7231A6-492F-4C60-04E6-2356A56C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3A466386-EED4-27EF-DFF1-8B3D94D1ED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6BA0E-80AD-5739-29B3-D1C0A05D580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2357C3-0140-F47D-D252-EAB090B6F3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7065325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14030-B54A-588C-CF02-67218F379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6BAC2B9-A86F-4C45-5BF6-31658AE1475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0F2D52-BE78-66EF-104B-C8ECFD72A2E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A7ECEA5F-4758-81D3-228C-55C0F8B66C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87DAB3D8-6718-8AF9-0183-2CC579FAE6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2FEEFC-CDC8-0126-517F-00CF86C0DED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D522B4-960D-BF74-CA17-C082FC9C2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2784754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19050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6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2026年</a:t>
            </a:r>
            <a:r>
              <a:rPr lang="zh-CN" altLang="en-US" sz="6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中</a:t>
            </a:r>
            <a:r>
              <a:rPr lang="en-US" sz="6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汇报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1016000" y="4415155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0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研发部账务组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5050155"/>
            <a:ext cx="1016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汇报人：赵鑫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7620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目录</a:t>
            </a:r>
          </a:p>
        </p:txBody>
      </p:sp>
      <p:cxnSp>
        <p:nvCxnSpPr>
          <p:cNvPr id="3" name="Connector 3"/>
          <p:cNvCxnSpPr/>
          <p:nvPr/>
        </p:nvCxnSpPr>
        <p:spPr>
          <a:xfrm rot="-4297">
            <a:off x="1016004" y="1644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AutoShape 4"/>
          <p:cNvSpPr/>
          <p:nvPr/>
        </p:nvSpPr>
        <p:spPr>
          <a:xfrm>
            <a:off x="1549400" y="2184400"/>
            <a:ext cx="533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一、团队概况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549400" y="3073400"/>
            <a:ext cx="533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二、</a:t>
            </a:r>
            <a:r>
              <a:rPr lang="zh-CN" altLang="en-US" sz="2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上半年</a:t>
            </a:r>
            <a:r>
              <a:rPr lang="en-US" sz="24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成果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1549400" y="3962400"/>
            <a:ext cx="533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三、</a:t>
            </a:r>
            <a:r>
              <a:rPr lang="zh-CN" altLang="en-US" sz="2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存在问题</a:t>
            </a:r>
            <a:endParaRPr 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1549400" y="4851400"/>
            <a:ext cx="533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四、</a:t>
            </a:r>
            <a:r>
              <a:rPr lang="zh-CN" altLang="en-US" sz="2400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下半</a:t>
            </a:r>
            <a:r>
              <a:rPr lang="en-US" sz="24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年计划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7620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一、团队概况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4297">
            <a:off x="1016004" y="16192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2700000" y="-12700000"/>
            <a:ext cx="12700" cy="127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74800" y="2159000"/>
            <a:ext cx="914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团队规模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1574800" y="2603500"/>
            <a:ext cx="9144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16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5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人组成的技术团队，团队成员稳定</a:t>
            </a:r>
            <a:endParaRPr lang="en-US" sz="1100" dirty="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2700000" y="-12700000"/>
            <a:ext cx="12700" cy="127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74800" y="3492500"/>
            <a:ext cx="914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职责范围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574800" y="3937000"/>
            <a:ext cx="9144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产品、账户、借款、还款四大模块</a:t>
            </a:r>
            <a:endParaRPr lang="en-US" sz="1100" dirty="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2700000" y="-12700000"/>
            <a:ext cx="12700" cy="127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74800" y="4826000"/>
            <a:ext cx="914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团队定位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574800" y="5270500"/>
            <a:ext cx="9144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负责账务系统的稳健运行，支撑渠道对接、数据分析、营销赋能、运营支持及外部机构协作</a:t>
            </a:r>
            <a:endParaRPr lang="en-US" sz="1600" dirty="0">
              <a:solidFill>
                <a:srgbClr val="333333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598285" y="2785110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2667000"/>
            <a:ext cx="10972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4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二、</a:t>
            </a:r>
            <a:r>
              <a:rPr lang="zh-CN" altLang="en-US" sz="4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上半年</a:t>
            </a:r>
            <a:r>
              <a:rPr lang="en-US" sz="4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成果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支撑业务增长，推进目标落地</a:t>
            </a:r>
            <a:endParaRPr lang="en-US" sz="1100" dirty="0"/>
          </a:p>
        </p:txBody>
      </p:sp>
      <p:cxnSp>
        <p:nvCxnSpPr>
          <p:cNvPr id="3" name="Connector 3"/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015992" y="1913692"/>
            <a:ext cx="10160000" cy="28117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上半年共参与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95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个需求，处理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个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bug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，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起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P0/P1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故障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新增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13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家机构产品上线，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11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家机构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CA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签章对接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数据治理一期收尾，异常借据从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3.4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万降至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340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笔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数据治理二期合规补充，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45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个产品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67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个问题，全部完成确认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BAC7BD-B716-984A-64F4-3115AE71C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2B6718F-6D8C-7476-AFB1-FADD19CF07C3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OKR1 - </a:t>
            </a: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研发效率提升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C4EB98A5-9B65-E11A-F2A0-F020049612FB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>
            <a:extLst>
              <a:ext uri="{FF2B5EF4-FFF2-40B4-BE49-F238E27FC236}">
                <a16:creationId xmlns:a16="http://schemas.microsoft.com/office/drawing/2014/main" id="{6587098C-CBD0-1E24-D4D8-50404F819E9C}"/>
              </a:ext>
            </a:extLst>
          </p:cNvPr>
          <p:cNvSpPr/>
          <p:nvPr/>
        </p:nvSpPr>
        <p:spPr>
          <a:xfrm>
            <a:off x="1016000" y="1727200"/>
            <a:ext cx="10160000" cy="256966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基于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AI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赋能，标准机构对接（文档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+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开发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+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配置）提效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80%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以上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清理无用代码，三个系统共计删除约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万行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核心链路重构，借款试算已上线，借款申请进行中，账户开户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更新进行中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78466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35037D-FE80-4338-AA24-4A8684838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FC3BB66-2D2C-B23E-B306-7446254DE728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研发效率提升 </a:t>
            </a:r>
            <a:r>
              <a:rPr lang="en-US" altLang="zh-CN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- </a:t>
            </a: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账户开户</a:t>
            </a:r>
            <a:r>
              <a:rPr lang="en-US" altLang="zh-CN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更新重构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FC02D392-33E4-7484-AFD0-FB2D16BBACF4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>
            <a:extLst>
              <a:ext uri="{FF2B5EF4-FFF2-40B4-BE49-F238E27FC236}">
                <a16:creationId xmlns:a16="http://schemas.microsoft.com/office/drawing/2014/main" id="{00A16E97-672E-7B53-319E-5D8F69ACE2ED}"/>
              </a:ext>
            </a:extLst>
          </p:cNvPr>
          <p:cNvSpPr/>
          <p:nvPr/>
        </p:nvSpPr>
        <p:spPr>
          <a:xfrm>
            <a:off x="1016000" y="1465358"/>
            <a:ext cx="10160000" cy="472883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旧架构问题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核心类膨胀，路由、字段、事件、日志高度耦合，多入口共享方法，靠 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if-else 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区分场景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链路长、分支多、逻辑交错，变更字段逻辑重复，理解与修改成本高，易出错</a:t>
            </a: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新架构设计：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Engine + 5 Path Handler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Engine 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统一调度生命周期：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  前置：校验 → 锁 → 幂等 → 查户 → 组装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  落库：落库 → 保存定价 → 变更日志 → 发送事件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  收尾：后置处理 → 返回结果</a:t>
            </a: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关键设计决策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策略模式：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5 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条路径独立 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Handler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，对扩展开放、对修改封闭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模板方法：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Engine 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固化生命周期，路径差异由 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Handler 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插拔实现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灰度路由：自研灰度框架支撑，灰度验证 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+ </a:t>
            </a:r>
            <a:r>
              <a:rPr lang="en-US" altLang="zh-CN" sz="1600" b="0" i="0" u="none" strike="noStrike" dirty="0" err="1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Nacos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热更新，逐步放量、风险可控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36442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EB72CC-C064-1A22-D6C4-ACD81323F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7B91FAE-AA07-19CA-7671-50A6C3B93014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OKR2 - AI </a:t>
            </a: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深度赋能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F6E9F380-5732-CA3C-B69F-4F474F4041B4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>
            <a:extLst>
              <a:ext uri="{FF2B5EF4-FFF2-40B4-BE49-F238E27FC236}">
                <a16:creationId xmlns:a16="http://schemas.microsoft.com/office/drawing/2014/main" id="{AE7CBEE7-B3AE-963C-3E3E-B842F5AE76E3}"/>
              </a:ext>
            </a:extLst>
          </p:cNvPr>
          <p:cNvSpPr/>
          <p:nvPr/>
        </p:nvSpPr>
        <p:spPr>
          <a:xfrm>
            <a:off x="1016000" y="1727200"/>
            <a:ext cx="10160000" cy="263273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Skills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覆盖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15+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场景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涵盖机构接入、功能开发、代码审查、问题排查、文档生成等，工作效率、代码可用率持续提升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Skills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同步工具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聚合多仓库 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AI Skills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，支持跨工具分发、工作区隔离、自动同步，提升配置标准化和同步效率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04902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21AFEB-09CD-089A-C666-2A132E96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B552F3B-A391-2959-9C73-12CA6CC24260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深度赋能 </a:t>
            </a:r>
            <a:r>
              <a:rPr lang="en-US" altLang="zh-CN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- </a:t>
            </a: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核心 </a:t>
            </a:r>
            <a:r>
              <a:rPr 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Skills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2B50BA6A-E820-0055-6223-29C91430A92F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>
            <a:extLst>
              <a:ext uri="{FF2B5EF4-FFF2-40B4-BE49-F238E27FC236}">
                <a16:creationId xmlns:a16="http://schemas.microsoft.com/office/drawing/2014/main" id="{40F46BD1-0A8F-2BD4-CF5B-4AD7D4AA2076}"/>
              </a:ext>
            </a:extLst>
          </p:cNvPr>
          <p:cNvSpPr/>
          <p:nvPr/>
        </p:nvSpPr>
        <p:spPr>
          <a:xfrm>
            <a:off x="1016000" y="1511300"/>
            <a:ext cx="10160000" cy="487714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标准新机构接入 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：全自动完成数据库配置、代码修改、参数配置、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Mock 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接口、文档生成、部署开发环境，幂等安全、每步可追溯</a:t>
            </a:r>
          </a:p>
          <a:p>
            <a:pPr indent="0" algn="l">
              <a:lnSpc>
                <a:spcPct val="125000"/>
              </a:lnSpc>
              <a:defRPr/>
            </a:pPr>
            <a:endParaRPr lang="zh-CN" altLang="en-US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非标准新机构接入 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：全自动完成预检、数据库配置、代码生成、参数配置、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Mock 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接口、文档编写，可从中断处恢复</a:t>
            </a:r>
          </a:p>
          <a:p>
            <a:pPr indent="0" algn="l">
              <a:lnSpc>
                <a:spcPct val="125000"/>
              </a:lnSpc>
              <a:defRPr/>
            </a:pPr>
            <a:endParaRPr lang="zh-CN" altLang="en-US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技术文档生成 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：自动扫描多系统代码，生成含 </a:t>
            </a:r>
            <a:r>
              <a:rPr lang="en-US" altLang="zh-CN" b="0" i="0" u="none" strike="noStrike" dirty="0" err="1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Nacos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配置、数据库变更、涉及系统等信息的标准技术设计文档，写完自动校验格式</a:t>
            </a:r>
          </a:p>
          <a:p>
            <a:pPr indent="0" algn="l">
              <a:lnSpc>
                <a:spcPct val="125000"/>
              </a:lnSpc>
              <a:defRPr/>
            </a:pPr>
            <a:endParaRPr lang="zh-CN" altLang="en-US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功能开发全流程 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：按技术文档自动执行 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SQL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、生成代码、编译部署、代码审查，多个系统按依赖顺序编排，不通过不让走下一步</a:t>
            </a:r>
          </a:p>
          <a:p>
            <a:pPr indent="0" algn="l">
              <a:lnSpc>
                <a:spcPct val="125000"/>
              </a:lnSpc>
              <a:defRPr/>
            </a:pPr>
            <a:endParaRPr lang="zh-CN" altLang="en-US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代码审查 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：审查代码标出所有问题，人工决定修哪些不修哪些，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执行修复并自动备份，改错可一键还原，审查数据归档留档</a:t>
            </a:r>
          </a:p>
          <a:p>
            <a:pPr indent="0" algn="l">
              <a:lnSpc>
                <a:spcPct val="125000"/>
              </a:lnSpc>
              <a:defRPr/>
            </a:pPr>
            <a:endParaRPr lang="zh-CN" altLang="en-US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问题排查 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：用户描述问题现象，自动查日志、查数据库、查代码，多维度交叉分析定位根因，输出排查报告（仅开发</a:t>
            </a:r>
            <a:r>
              <a:rPr lang="en-US" altLang="zh-CN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测试环境）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1898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98CC8B-14AA-B7DD-EBD8-53609B9BA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AB47133-CC9F-490A-EE3B-59836433AD1F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深度赋能 </a:t>
            </a:r>
            <a:r>
              <a:rPr lang="en-US" altLang="zh-CN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- </a:t>
            </a: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问题排查 </a:t>
            </a:r>
            <a:r>
              <a:rPr lang="en-US" altLang="zh-CN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Skill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8A712FF2-3CAA-6393-F7AA-EB159A16FCD8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" name="图片 4">
            <a:extLst>
              <a:ext uri="{FF2B5EF4-FFF2-40B4-BE49-F238E27FC236}">
                <a16:creationId xmlns:a16="http://schemas.microsoft.com/office/drawing/2014/main" id="{6A1A7D6A-E70D-C06E-D02B-B20198A7D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17" y="1632550"/>
            <a:ext cx="7019366" cy="38752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8D279F7E-3E73-49A6-5EAF-D83810B0F8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417" y="2090527"/>
            <a:ext cx="10656795" cy="2064961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58B687CA-2D67-1DC0-A377-A389D60391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417" y="4225938"/>
            <a:ext cx="4760259" cy="59732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B67F758D-9746-5BD6-FF2B-E78431CA5D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1394" y="4225938"/>
            <a:ext cx="6095999" cy="209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884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3849D8-A8BC-FCF2-E829-A8A98D175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C8AE7AA-A581-2B73-B36E-3B97CA70AA00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OKR3 - </a:t>
            </a: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基础建设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0B3C5033-24A6-0E7F-CA29-FA7635890CA1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>
            <a:extLst>
              <a:ext uri="{FF2B5EF4-FFF2-40B4-BE49-F238E27FC236}">
                <a16:creationId xmlns:a16="http://schemas.microsoft.com/office/drawing/2014/main" id="{8E3E0013-DE75-7FDE-AC3C-214AE6067065}"/>
              </a:ext>
            </a:extLst>
          </p:cNvPr>
          <p:cNvSpPr/>
          <p:nvPr/>
        </p:nvSpPr>
        <p:spPr>
          <a:xfrm>
            <a:off x="1016000" y="1773567"/>
            <a:ext cx="10160000" cy="338672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告警降噪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重复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漏告警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误告警治理，无效告警减少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90%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，清盘机构告警降噪方案上线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新增监控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CAT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告警覆盖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19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个系统服务、新增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11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个还款计划告警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注释覆盖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   核心类请求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响应注释检查修改完毕，保证业务语义准确性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368109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F9D11E-356F-FE2D-72FD-A22B2116C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36E37E4-CA8F-6861-79A0-D623D5955E5D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基础建设 </a:t>
            </a:r>
            <a:r>
              <a:rPr lang="en-US" altLang="zh-CN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- </a:t>
            </a: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告警降噪成果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B55F4335-9AB8-52BE-98F8-42BD04461643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148FE653-0B81-FD8C-C92C-C4A215ED12AD}"/>
              </a:ext>
            </a:extLst>
          </p:cNvPr>
          <p:cNvSpPr txBox="1"/>
          <p:nvPr/>
        </p:nvSpPr>
        <p:spPr>
          <a:xfrm>
            <a:off x="1758566" y="1871317"/>
            <a:ext cx="29595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降噪前后告警日志量对比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4FBCA0-F8C7-60D7-B5FF-79407EE45339}"/>
              </a:ext>
            </a:extLst>
          </p:cNvPr>
          <p:cNvSpPr txBox="1"/>
          <p:nvPr/>
        </p:nvSpPr>
        <p:spPr>
          <a:xfrm>
            <a:off x="7202180" y="1871317"/>
            <a:ext cx="36969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账务告警群每15分钟告警量降噪分析对比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A3480441-2F4A-E6E5-2096-01124F577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69" y="2307295"/>
            <a:ext cx="5125780" cy="2413060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C7A60410-81CC-08D9-243E-BE6AED7A3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4512" y="2307295"/>
            <a:ext cx="6193152" cy="2438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879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FC2F-FAD4-3123-420A-6EBD62A17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50DB006-C880-C375-8F48-569CAD0FF560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团队建设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B37CF288-50CC-E676-44D0-304C6112EC6B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>
            <a:extLst>
              <a:ext uri="{FF2B5EF4-FFF2-40B4-BE49-F238E27FC236}">
                <a16:creationId xmlns:a16="http://schemas.microsoft.com/office/drawing/2014/main" id="{5D4CA324-8EE9-42F6-993E-7E06CAADE36A}"/>
              </a:ext>
            </a:extLst>
          </p:cNvPr>
          <p:cNvSpPr/>
          <p:nvPr/>
        </p:nvSpPr>
        <p:spPr>
          <a:xfrm>
            <a:off x="1015992" y="1639066"/>
            <a:ext cx="10160000" cy="284002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核心模块人人可维护，线上问题响应不依赖特定人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交叉审查常态化，代码质量由团队共同把关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编码融入日常研发，全员借助 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持续提效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52493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2667000"/>
            <a:ext cx="10972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4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三、</a:t>
            </a:r>
            <a:r>
              <a:rPr lang="zh-CN" altLang="en-US" sz="4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存在</a:t>
            </a:r>
            <a:r>
              <a:rPr lang="en-US" sz="4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问题</a:t>
            </a:r>
            <a:endParaRPr lang="en-US" sz="1100" dirty="0"/>
          </a:p>
        </p:txBody>
      </p:sp>
      <p:cxnSp>
        <p:nvCxnSpPr>
          <p:cNvPr id="3" name="Connector 3"/>
          <p:cNvCxnSpPr/>
          <p:nvPr/>
        </p:nvCxnSpPr>
        <p:spPr>
          <a:xfrm rot="-34374">
            <a:off x="5461032" y="4057650"/>
            <a:ext cx="1270063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B4B4B4">
                <a:alpha val="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C7FDD-C12B-1EC0-46A5-C77C270F1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78B0A0C-23C2-4124-AE84-B583219F720F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存在问题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70562AE4-4758-E604-4E91-02749EB080D6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>
            <a:extLst>
              <a:ext uri="{FF2B5EF4-FFF2-40B4-BE49-F238E27FC236}">
                <a16:creationId xmlns:a16="http://schemas.microsoft.com/office/drawing/2014/main" id="{39B78EE1-70EB-CB47-C276-F08867B18682}"/>
              </a:ext>
            </a:extLst>
          </p:cNvPr>
          <p:cNvSpPr/>
          <p:nvPr/>
        </p:nvSpPr>
        <p:spPr>
          <a:xfrm>
            <a:off x="1016000" y="1669240"/>
            <a:ext cx="10160000" cy="276962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机构对接，开发联调耗时占比很高，成为提效的主要卡点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1600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生成代码质量标准差较大，距离可信赖自动放行仍有很大差距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65437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2667000"/>
            <a:ext cx="10972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44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四、</a:t>
            </a:r>
            <a:r>
              <a:rPr lang="zh-CN" altLang="en-US" sz="44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下半年</a:t>
            </a:r>
            <a:r>
              <a:rPr lang="en-US" sz="44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计划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8B031-AC2F-EFBC-5C22-AC3C8EBCC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7419C453-DF25-BC26-5058-B8B92D092535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交付提效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55376FB4-3D62-4C03-2295-A364E40C972E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>
            <a:extLst>
              <a:ext uri="{FF2B5EF4-FFF2-40B4-BE49-F238E27FC236}">
                <a16:creationId xmlns:a16="http://schemas.microsoft.com/office/drawing/2014/main" id="{711BE15A-7FFF-2FB9-11FF-7F6A527527E3}"/>
              </a:ext>
            </a:extLst>
          </p:cNvPr>
          <p:cNvSpPr/>
          <p:nvPr/>
        </p:nvSpPr>
        <p:spPr>
          <a:xfrm>
            <a:off x="1016000" y="1727200"/>
            <a:ext cx="10160000" cy="338672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预设机构联调场景，通过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AI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监控各接口全链路的连通性与数据一致性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预设监控点，机构联调时通过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AI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自动扫描相关日志、数据库，异常时自动企业微信告警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问题排查 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Skills 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平台化，开发、测试人员自助提交问题，平台自动取证、定位根因并给出解决思路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持续缩小非标准与标准机构对接的效率差距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4464674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C27483-A07B-9FFF-E021-9CC6CF663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8804172-98AE-97CC-4B22-A2253FC22764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开发工作流平台化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FBEF2AA2-5F6E-8AD6-54FD-BB2F4F97AB44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>
            <a:extLst>
              <a:ext uri="{FF2B5EF4-FFF2-40B4-BE49-F238E27FC236}">
                <a16:creationId xmlns:a16="http://schemas.microsoft.com/office/drawing/2014/main" id="{D5F7AB71-BF18-35DF-015C-6C9622C0D148}"/>
              </a:ext>
            </a:extLst>
          </p:cNvPr>
          <p:cNvSpPr/>
          <p:nvPr/>
        </p:nvSpPr>
        <p:spPr>
          <a:xfrm>
            <a:off x="1016000" y="1976086"/>
            <a:ext cx="10160000" cy="24784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串联 技术文档生成 → 功能开发 → 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代码审查 → 自动部署 完整链路，一键执行，流程可恢复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设计记忆，自动沉淀设计方案与决策日志，让会话中的关键思路、取舍理由可落地、可复用，提高生成代码质量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09291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3DB4A6-1B05-B94E-2524-CB71F95DC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443C2B1-089E-A7FC-D850-083F1936CC56}"/>
              </a:ext>
            </a:extLst>
          </p:cNvPr>
          <p:cNvSpPr/>
          <p:nvPr/>
        </p:nvSpPr>
        <p:spPr>
          <a:xfrm>
            <a:off x="1016000" y="762000"/>
            <a:ext cx="1016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核心链路重构与代码治理</a:t>
            </a:r>
            <a:endParaRPr lang="en-US" sz="1100" dirty="0"/>
          </a:p>
        </p:txBody>
      </p:sp>
      <p:cxnSp>
        <p:nvCxnSpPr>
          <p:cNvPr id="3" name="Connector 3">
            <a:extLst>
              <a:ext uri="{FF2B5EF4-FFF2-40B4-BE49-F238E27FC236}">
                <a16:creationId xmlns:a16="http://schemas.microsoft.com/office/drawing/2014/main" id="{3AC4C96F-7535-9608-8037-30C6E43D31CE}"/>
              </a:ext>
            </a:extLst>
          </p:cNvPr>
          <p:cNvCxnSpPr/>
          <p:nvPr/>
        </p:nvCxnSpPr>
        <p:spPr>
          <a:xfrm rot="-4297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>
            <a:extLst>
              <a:ext uri="{FF2B5EF4-FFF2-40B4-BE49-F238E27FC236}">
                <a16:creationId xmlns:a16="http://schemas.microsoft.com/office/drawing/2014/main" id="{AE72B4F3-AF5D-2371-8985-25F9ABD531B4}"/>
              </a:ext>
            </a:extLst>
          </p:cNvPr>
          <p:cNvSpPr/>
          <p:nvPr/>
        </p:nvSpPr>
        <p:spPr>
          <a:xfrm>
            <a:off x="1016000" y="1622872"/>
            <a:ext cx="10160000" cy="292475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借款申请、账户开户</a:t>
            </a:r>
            <a:r>
              <a:rPr lang="en-US" altLang="zh-CN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更新重构上线，并持续监控验证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机构放款还款回调、还款计划刷新等功能，梳理逻辑并重构</a:t>
            </a:r>
            <a:endParaRPr lang="en-US" altLang="zh-CN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zh-CN" altLang="en-US" sz="16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还款计划等无用代码清理，延续系统瘦身计划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982148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609600" y="2288046"/>
            <a:ext cx="10972800" cy="17367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6000" b="1" i="0" u="none" strike="noStrike" dirty="0" err="1">
                <a:solidFill>
                  <a:srgbClr val="111827"/>
                </a:solidFill>
                <a:latin typeface="Noto Sans SC"/>
                <a:ea typeface="Noto Sans SC"/>
                <a:cs typeface="Noto Sans SC"/>
                <a:sym typeface="Noto Sans SC"/>
              </a:rPr>
              <a:t>谢谢大家</a:t>
            </a:r>
            <a:r>
              <a:rPr lang="en-US" sz="6000" b="1" i="0" u="none" strike="noStrike" dirty="0">
                <a:solidFill>
                  <a:srgbClr val="111827"/>
                </a:solidFill>
                <a:latin typeface="Noto Sans SC"/>
                <a:ea typeface="Noto Sans SC"/>
                <a:cs typeface="Noto Sans SC"/>
                <a:sym typeface="Noto Sans SC"/>
              </a:rPr>
              <a:t>！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1071</Words>
  <Application>Microsoft Office PowerPoint</Application>
  <PresentationFormat>宽屏</PresentationFormat>
  <Paragraphs>150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3" baseType="lpstr">
      <vt:lpstr>Noto Sans SC</vt:lpstr>
      <vt:lpstr>Arial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xin zhao</cp:lastModifiedBy>
  <cp:revision>26</cp:revision>
  <dcterms:created xsi:type="dcterms:W3CDTF">2026-01-22T09:15:16Z</dcterms:created>
  <dcterms:modified xsi:type="dcterms:W3CDTF">2026-08-01T14:13:58Z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E17AB2BD493F1C6541506F69B22D521E_42</vt:lpwstr>
  </property>
  <property fmtid="{D5CDD505-2E9C-101B-9397-08002B2CF9AE}" pid="3" name="KSOProductBuildVer">
    <vt:lpwstr>2052-6.14.0.8924</vt:lpwstr>
  </property>
</Properties>
</file>