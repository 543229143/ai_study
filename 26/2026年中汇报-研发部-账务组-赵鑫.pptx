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1905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2025年终汇报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4415155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研发部账务组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5050155"/>
            <a:ext cx="1016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汇报人：赵鑫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762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zh-CN" altLang="en-US" sz="3600" b="1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64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549400" y="2184400"/>
            <a:ext cx="533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一、团队概况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549400" y="3073400"/>
            <a:ext cx="533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二、年度成果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549400" y="3962400"/>
            <a:ext cx="533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三、问题与风险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549400" y="4851400"/>
            <a:ext cx="533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四、26年计划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762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一、团队概况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619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000" y="-12700000"/>
            <a:ext cx="12700" cy="127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74800" y="21590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团队规模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574800" y="2603500"/>
            <a:ext cx="914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5 人；上半年新增 2 人，并在年中进入稳定产出节奏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000" y="-12700000"/>
            <a:ext cx="12700" cy="127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74800" y="34925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职责范围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74800" y="3937000"/>
            <a:ext cx="914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覆盖 产品、账户、借款、还款四大核心模块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2700000" y="-12700000"/>
            <a:ext cx="12700" cy="127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74800" y="48260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团队定位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574800" y="5270500"/>
            <a:ext cx="914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保障账务系统高可用、高准确、高协同，</a:t>
            </a:r>
            <a:r>
              <a:rPr lang="en-US" sz="160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为业务发展提供坚实基础</a:t>
            </a:r>
            <a:endParaRPr lang="en-US" sz="160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598285" y="278511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2667000"/>
            <a:ext cx="1097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二、年度成果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OKR1：支撑业务增长，推进目标落地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8288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2352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完成机构对接及流程优化，提升放款率与提现率，助力业务规模扩张</a:t>
            </a:r>
            <a:endParaRPr lang="en-US" sz="16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16000" y="30480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关键成果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55219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全年交付</a:t>
            </a:r>
            <a:r>
              <a:rPr lang="en-US" sz="160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170</a:t>
            </a: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个需求</a:t>
            </a:r>
            <a:endParaRPr lang="en-US" sz="1600"/>
          </a:p>
        </p:txBody>
      </p:sp>
      <p:sp>
        <p:nvSpPr>
          <p:cNvPr id="8" name="AutoShape 8"/>
          <p:cNvSpPr/>
          <p:nvPr/>
        </p:nvSpPr>
        <p:spPr>
          <a:xfrm>
            <a:off x="1016000" y="393319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15家机构产品上线、</a:t>
            </a:r>
            <a:r>
              <a:rPr lang="en-US" sz="160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10</a:t>
            </a: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家机构权益对接、</a:t>
            </a:r>
            <a:r>
              <a:rPr lang="en-US" sz="160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家机构 AMC 对接，落地</a:t>
            </a:r>
            <a:r>
              <a:rPr lang="en-US" sz="160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23</a:t>
            </a: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项机构优化需求</a:t>
            </a:r>
            <a:endParaRPr lang="en-US" sz="1600">
              <a:solidFill>
                <a:srgbClr val="55555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431419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优化哈啰额度冻结逻辑，恢复</a:t>
            </a:r>
            <a:r>
              <a:rPr lang="en-US" sz="160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万账户额度，约增加</a:t>
            </a:r>
            <a:r>
              <a:rPr lang="en-US" sz="160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0.6</a:t>
            </a: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万笔借据</a:t>
            </a:r>
            <a:endParaRPr lang="en-US" sz="1600">
              <a:solidFill>
                <a:srgbClr val="55555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16000" y="469519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完善账户额度过期刷新机制，</a:t>
            </a:r>
            <a:r>
              <a:rPr lang="en-US" sz="160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万异常账户可重新授信</a:t>
            </a:r>
            <a:endParaRPr lang="en-US" sz="1600">
              <a:solidFill>
                <a:srgbClr val="555555"/>
              </a:solidFill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OKR2：数据治理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416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</a:p>
        </p:txBody>
      </p:sp>
      <p:sp>
        <p:nvSpPr>
          <p:cNvPr id="20" name="AutoShape 4"/>
          <p:cNvSpPr/>
          <p:nvPr/>
        </p:nvSpPr>
        <p:spPr>
          <a:xfrm>
            <a:off x="1016000" y="18288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</a:t>
            </a:r>
            <a:endParaRPr lang="en-US" sz="1100"/>
          </a:p>
        </p:txBody>
      </p:sp>
      <p:sp>
        <p:nvSpPr>
          <p:cNvPr id="21" name="AutoShape 5"/>
          <p:cNvSpPr/>
          <p:nvPr/>
        </p:nvSpPr>
        <p:spPr>
          <a:xfrm>
            <a:off x="1016000" y="22352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p>
            <a:pPr indent="0" algn="l">
              <a:lnSpc>
                <a:spcPct val="125000"/>
              </a:lnSpc>
              <a:defRPr/>
            </a:pPr>
            <a:r>
              <a:rPr lang="en-US" sz="160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确保机构还款计划准确、合规落库</a:t>
            </a:r>
            <a:endParaRPr lang="en-US" sz="1600">
              <a:solidFill>
                <a:srgbClr val="55555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AutoShape 6"/>
          <p:cNvSpPr/>
          <p:nvPr/>
        </p:nvSpPr>
        <p:spPr>
          <a:xfrm>
            <a:off x="1016000" y="30480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关键成果</a:t>
            </a:r>
            <a:endParaRPr lang="en-US" sz="1100"/>
          </a:p>
        </p:txBody>
      </p:sp>
      <p:sp>
        <p:nvSpPr>
          <p:cNvPr id="23" name="AutoShape 7"/>
          <p:cNvSpPr/>
          <p:nvPr/>
        </p:nvSpPr>
        <p:spPr>
          <a:xfrm>
            <a:off x="1016000" y="355219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sz="160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不合规借据从 105 万笔降至 2.6 万笔，治理率达 97%</a:t>
            </a:r>
            <a:endParaRPr lang="en-US" sz="1600">
              <a:solidFill>
                <a:srgbClr val="55555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4" name="AutoShape 8"/>
          <p:cNvSpPr/>
          <p:nvPr/>
        </p:nvSpPr>
        <p:spPr>
          <a:xfrm>
            <a:off x="1016000" y="393319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zh-CN" altLang="en-US" sz="160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梳理</a:t>
            </a:r>
            <a:r>
              <a:rPr lang="en-US" altLang="en-US" sz="160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 </a:t>
            </a:r>
            <a:r>
              <a:rPr lang="en-US" altLang="zh-CN" sz="160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65 </a:t>
            </a:r>
            <a:r>
              <a:rPr lang="zh-CN" altLang="en-US" sz="160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家机构产品，不合规</a:t>
            </a:r>
            <a:r>
              <a:rPr lang="en-US" altLang="en-US" sz="160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 </a:t>
            </a:r>
            <a:r>
              <a:rPr lang="en-US" altLang="zh-CN" sz="160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51 </a:t>
            </a:r>
            <a:r>
              <a:rPr lang="zh-CN" altLang="en-US" sz="160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家；成功推进</a:t>
            </a:r>
            <a:r>
              <a:rPr lang="en-US" altLang="en-US" sz="160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 </a:t>
            </a:r>
            <a:r>
              <a:rPr lang="en-US" altLang="zh-CN" sz="160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26 </a:t>
            </a:r>
            <a:r>
              <a:rPr lang="zh-CN" altLang="en-US" sz="160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家修复，不修改</a:t>
            </a:r>
            <a:r>
              <a:rPr lang="en-US" altLang="zh-CN" sz="160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 5 </a:t>
            </a:r>
            <a:r>
              <a:rPr lang="zh-CN" altLang="en-US" sz="160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家，不合规剩</a:t>
            </a:r>
            <a:r>
              <a:rPr lang="en-US" altLang="en-US" sz="160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 </a:t>
            </a:r>
            <a:r>
              <a:rPr lang="en-US" altLang="zh-CN" sz="160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17 </a:t>
            </a:r>
            <a:r>
              <a:rPr lang="zh-CN" altLang="en-US" sz="160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家</a:t>
            </a:r>
            <a:endParaRPr lang="zh-CN" altLang="en-US" sz="1600">
              <a:solidFill>
                <a:srgbClr val="55555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5" name="AutoShape 9"/>
          <p:cNvSpPr/>
          <p:nvPr/>
        </p:nvSpPr>
        <p:spPr>
          <a:xfrm>
            <a:off x="1016000" y="431419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zh-CN" altLang="en-US" sz="160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上线</a:t>
            </a:r>
            <a:r>
              <a:rPr lang="en-US" altLang="en-US" sz="160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 </a:t>
            </a:r>
            <a:r>
              <a:rPr lang="en-US" altLang="zh-CN" sz="160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11 </a:t>
            </a:r>
            <a:r>
              <a:rPr lang="zh-CN" altLang="en-US" sz="160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条还款计划异常监控告警</a:t>
            </a:r>
            <a:endParaRPr lang="zh-CN" altLang="en-US" sz="1600">
              <a:solidFill>
                <a:srgbClr val="555555"/>
              </a:solidFill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架构瘦身与性能提升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416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651000"/>
            <a:ext cx="10160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累计删除约 21 万行无用代码，持续降低维护成本与理解成本</a:t>
            </a:r>
            <a:endParaRPr lang="en-US" sz="1600"/>
          </a:p>
        </p:txBody>
      </p:sp>
      <p:sp>
        <p:nvSpPr>
          <p:cNvPr id="5" name="AutoShape 5"/>
          <p:cNvSpPr/>
          <p:nvPr/>
        </p:nvSpPr>
        <p:spPr>
          <a:xfrm>
            <a:off x="1016000" y="2260600"/>
            <a:ext cx="1016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   GOA 删除 4 万行（-21.8%）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   AMS 删除 1 万行（-22.5%）</a:t>
            </a:r>
            <a:endParaRPr lang="en-US" sz="14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   LCS 删除 16 万行（-67.1%），服务启动时间从65.5s 降至 52s（提速 21%）</a:t>
            </a:r>
            <a:endParaRPr lang="en-US" sz="14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16000" y="37084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优化 4 条慢 SQL、清理 2 张大表</a:t>
            </a:r>
            <a:endParaRPr lang="en-US" sz="1600"/>
          </a:p>
        </p:txBody>
      </p:sp>
      <p:sp>
        <p:nvSpPr>
          <p:cNvPr id="7" name="AutoShape 7"/>
          <p:cNvSpPr/>
          <p:nvPr/>
        </p:nvSpPr>
        <p:spPr>
          <a:xfrm>
            <a:off x="1016000" y="42164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梳理业务场景走本地缓存，每日减少约 45 万次数据库调用</a:t>
            </a:r>
            <a:endParaRPr lang="en-US" sz="1600"/>
          </a:p>
        </p:txBody>
      </p:sp>
      <p:sp>
        <p:nvSpPr>
          <p:cNvPr id="8" name="AutoShape 8"/>
          <p:cNvSpPr/>
          <p:nvPr/>
        </p:nvSpPr>
        <p:spPr>
          <a:xfrm>
            <a:off x="1016000" y="47244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完成老 Python 服务回调全面切换</a:t>
            </a:r>
            <a:endParaRPr lang="en-US" sz="160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5080000"/>
            <a:ext cx="101600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5080000"/>
            <a:ext cx="101600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稳定性、安全性、效率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90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全年 0 起 P0/P1 故障，修复历史缺陷 2 个，全年共处理缺陷 16 个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603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数据库主键扩容、核心 JAR 包升级、MQ 发送失败补偿机制、全链路日志脱敏等关键项落地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30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新增 14 条核心监控告警，覆盖借款、还款、权益、AMC 等关键业务，第一时间发现线上</a:t>
            </a:r>
            <a:r>
              <a:rPr lang="zh-CN" alt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异常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000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优化账户变更日志、上线放款卡件自动提醒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469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AMC 业务抽象“搭售产品通用技术方案”，提升后续新业务的</a:t>
            </a:r>
            <a:r>
              <a:rPr lang="zh-CN" alt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接入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效率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762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日常协作与支撑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619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203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支持用户注销、APP 体验优化等公共需求</a:t>
            </a:r>
            <a:endParaRPr lang="en-US" sz="160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2794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落地神策埋点一二期、3 家机构提额短信、在贷客户刷额、还款通知优化等营销需求</a:t>
            </a:r>
            <a:endParaRPr lang="en-US" sz="160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16000" y="3556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近半年共记录 58 起用户线上问题，账务组处理 42 起（72%），几乎都是机构问题，成为“救火队主力”</a:t>
            </a:r>
            <a:endParaRPr lang="en-US" sz="160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4378325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全面支撑渠道对接、数据分析、营销赋能、运营支持及外部机构的沟通协作</a:t>
            </a:r>
            <a:endParaRPr lang="en-US" sz="160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508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团队建设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568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2032000"/>
            <a:ext cx="1016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成功帮助 </a:t>
            </a:r>
            <a:r>
              <a:rPr lang="en-US" sz="160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2 位新人在 3 个月内独立交付常规需求</a:t>
            </a:r>
            <a:endParaRPr lang="en-US" sz="160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2794000"/>
            <a:ext cx="1016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培养 1 名骨干成员，承担关键模块设计与攻坚</a:t>
            </a:r>
            <a:endParaRPr lang="en-US" sz="160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16000" y="3556000"/>
            <a:ext cx="1016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160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组内信息共享，提升值班与跨模块问题处理能力</a:t>
            </a:r>
            <a:endParaRPr lang="en-US" sz="160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4318000"/>
            <a:ext cx="1016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引导组员主动思考</a:t>
            </a:r>
            <a:endParaRPr lang="en-US" sz="16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16000" y="5080000"/>
            <a:ext cx="1016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技术文档模板化</a:t>
            </a:r>
            <a:endParaRPr lang="en-US" sz="16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2667000"/>
            <a:ext cx="1097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三、问题与风险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4374">
            <a:off x="5461032" y="4057650"/>
            <a:ext cx="127006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4B4B4">
                <a:alpha val="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机构对接的外部不确定性，导致交付成本增加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905000"/>
            <a:ext cx="965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现象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362200"/>
            <a:ext cx="965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全年多个机构需求，因业务调整需求停止、上线后功能未开放</a:t>
            </a:r>
            <a:endParaRPr lang="en-US" sz="160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16000" y="2974340"/>
            <a:ext cx="965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160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下半年多个机构项目因对方响应滞后、代码问题多、修复不及时，</a:t>
            </a:r>
            <a:r>
              <a:rPr lang="zh-CN" altLang="en-US" sz="160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风险频出或</a:t>
            </a:r>
            <a:r>
              <a:rPr lang="en-US" sz="160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超排期，甚至带问题进入测试</a:t>
            </a:r>
            <a:endParaRPr lang="en-US" sz="160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3707130"/>
            <a:ext cx="965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7 月以来在“工期评估委员会群” 8 次上报</a:t>
            </a:r>
            <a:r>
              <a:rPr lang="zh-CN" altLang="en-US" sz="160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联调</a:t>
            </a:r>
            <a:r>
              <a:rPr lang="en-US" sz="160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风险</a:t>
            </a:r>
            <a:endParaRPr lang="en-US" sz="160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4409440"/>
            <a:ext cx="965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影响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905375"/>
            <a:ext cx="965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虽守住上线节点，但额外消耗大量研发资源，或消耗资源未产生收益</a:t>
            </a:r>
            <a:endParaRPr lang="en-US" sz="160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016000" y="5425440"/>
            <a:ext cx="965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建议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5933440"/>
            <a:ext cx="965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业务侧建立更强的机构约束机制</a:t>
            </a:r>
            <a:endParaRPr lang="en-US" sz="160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系统复杂度上升，影响交付效率与质量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670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2184400"/>
            <a:ext cx="952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模块耦合问题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641600"/>
            <a:ext cx="9525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借款、还款、权益、AMC 逻辑交织，修改一处易引发连锁反应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505200"/>
            <a:ext cx="952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可维护性问题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962400"/>
            <a:ext cx="9525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核心类体量过大，关键逻辑缺乏注释，导致问题定位成本高，</a:t>
            </a:r>
            <a:r>
              <a:rPr lang="en-US" sz="160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也影响 AI 工具准确理解业务语义</a:t>
            </a:r>
            <a:endParaRPr lang="en-US" sz="1600">
              <a:solidFill>
                <a:srgbClr val="55555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16000" y="4826000"/>
            <a:ext cx="952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可观测性问题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5283200"/>
            <a:ext cx="9525000" cy="6102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>
                <a:solidFill>
                  <a:srgbClr val="555555"/>
                </a:solidFill>
                <a:latin typeface="Noto Sans SC"/>
                <a:ea typeface="Noto Sans SC"/>
                <a:cs typeface="Noto Sans SC"/>
              </a:rPr>
              <a:t>虽新增 14 条监控，但机构侧异常（如字段缺失、状态错乱）仍依赖人工发现；同时告警泛滥，关键告警易被淹没，值班效率下降</a:t>
            </a:r>
            <a:endParaRPr lang="en-US" sz="1600">
              <a:solidFill>
                <a:srgbClr val="555555"/>
              </a:solidFill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2667000"/>
            <a:ext cx="1097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四、26年计划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762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质量与效能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619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2032000"/>
            <a:ext cx="1016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Dubbo 接口、核心逻辑注释覆盖率提升至 70%</a:t>
            </a:r>
            <a:endParaRPr lang="en-US" sz="16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2794000"/>
            <a:ext cx="1016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清理冗余代码与 TODO，持续保持系统轻量化</a:t>
            </a:r>
            <a:endParaRPr lang="en-US" sz="16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16000" y="3556000"/>
            <a:ext cx="1016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将复杂大类按业务进行垂直拆分，确保单一职责，降低逻辑复杂度</a:t>
            </a:r>
            <a:endParaRPr lang="en-US" sz="16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4318000"/>
            <a:ext cx="1016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zh-CN" altLang="en-US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+mn-ea"/>
              </a:rPr>
              <a:t>深化</a:t>
            </a:r>
            <a:r>
              <a:rPr lang="en-US" altLang="zh-CN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+mn-ea"/>
              </a:rPr>
              <a:t> AI </a:t>
            </a:r>
            <a:r>
              <a:rPr lang="zh-CN" altLang="en-US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+mn-ea"/>
              </a:rPr>
              <a:t>辅助编码流程，提升交付质量与效率</a:t>
            </a:r>
            <a:endParaRPr lang="en-US" sz="16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16000" y="5080000"/>
            <a:ext cx="1016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优化告警分级与聚合机制，实现无效告警降噪 70%</a:t>
            </a:r>
            <a:endParaRPr lang="en-US" sz="16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35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技术深度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64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90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引入部门新组件/新技术，形成可复用的工程能力</a:t>
            </a:r>
            <a:endParaRPr lang="en-US" sz="16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2667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结合运维接口性能大盘，持续优化响应速度</a:t>
            </a:r>
            <a:endParaRPr lang="en-US" sz="16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16000" y="342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 AI 工具辅助代码分析、风险识别与性能瓶颈定位</a:t>
            </a:r>
            <a:endParaRPr lang="en-US" sz="16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4191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梳理借还、开户核心链路，复杂模块优化</a:t>
            </a:r>
            <a:endParaRPr lang="en-US" sz="16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团队协作强化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720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905000"/>
            <a:ext cx="1016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强化需求分析与技术设计，建立开发前置对齐机制</a:t>
            </a:r>
            <a:endParaRPr lang="en-US" sz="16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2590800"/>
            <a:ext cx="1016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核心方案全员参与讨论，降低理解偏差与维护风险</a:t>
            </a:r>
            <a:endParaRPr lang="en-US" sz="16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16000" y="3276600"/>
            <a:ext cx="1016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交叉代码评审，关注逻辑正确性与可维护性</a:t>
            </a:r>
            <a:endParaRPr lang="en-US" sz="16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3962400"/>
            <a:ext cx="1016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技术复盘与知识治理，提升团队需求交付下限</a:t>
            </a:r>
            <a:endParaRPr lang="en-US" sz="16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1524000"/>
            <a:ext cx="1097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结语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2413000"/>
            <a:ext cx="10972800" cy="121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26 年账务组不仅要交付需求，更要通过标准化与 AI 赋能，打造一套高可用、易维护、易扩展的账务系统，为业务快速迭代提供确定性支撑。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3810000"/>
            <a:ext cx="10972800" cy="17367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谢谢大家！</a:t>
            </a:r>
            <a:endParaRPr lang="en-US" sz="4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1804</Words>
  <Application>WPS 演示</Application>
  <PresentationFormat/>
  <Paragraphs>184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3" baseType="lpstr">
      <vt:lpstr>Arial</vt:lpstr>
      <vt:lpstr>宋体</vt:lpstr>
      <vt:lpstr>Wingdings</vt:lpstr>
      <vt:lpstr>Arial</vt:lpstr>
      <vt:lpstr>Noto Sans SC</vt:lpstr>
      <vt:lpstr>Thonburi</vt:lpstr>
      <vt:lpstr>宋体</vt:lpstr>
      <vt:lpstr>汉仪书宋二KW</vt:lpstr>
      <vt:lpstr>微软雅黑</vt:lpstr>
      <vt:lpstr>汉仪旗黑</vt:lpstr>
      <vt:lpstr>Arial Unicode MS</vt:lpstr>
      <vt:lpstr>Noto Sans SC</vt:lpstr>
      <vt:lpstr>苹方-简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赵鑫</cp:lastModifiedBy>
  <cp:revision>13</cp:revision>
  <dcterms:created xsi:type="dcterms:W3CDTF">2026-01-22T09:15:16Z</dcterms:created>
  <dcterms:modified xsi:type="dcterms:W3CDTF">2026-01-22T09:15:16Z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E17AB2BD493F1C6541506F69B22D521E_42</vt:lpwstr>
  </property>
  <property fmtid="{D5CDD505-2E9C-101B-9397-08002B2CF9AE}" pid="3" name="KSOProductBuildVer">
    <vt:lpwstr>2052-6.14.0.8924</vt:lpwstr>
  </property>
</Properties>
</file>