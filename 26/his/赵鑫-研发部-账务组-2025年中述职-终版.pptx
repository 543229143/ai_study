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12" r:id="rId3"/>
  </p:sldMasterIdLst>
  <p:notesMasterIdLst>
    <p:notesMasterId r:id="rId5"/>
  </p:notesMasterIdLst>
  <p:handoutMasterIdLst>
    <p:handoutMasterId r:id="rId22"/>
  </p:handoutMasterIdLst>
  <p:sldIdLst>
    <p:sldId id="295" r:id="rId4"/>
    <p:sldId id="376" r:id="rId6"/>
    <p:sldId id="309" r:id="rId7"/>
    <p:sldId id="262" r:id="rId8"/>
    <p:sldId id="324" r:id="rId9"/>
    <p:sldId id="345" r:id="rId10"/>
    <p:sldId id="346" r:id="rId11"/>
    <p:sldId id="362" r:id="rId12"/>
    <p:sldId id="323" r:id="rId13"/>
    <p:sldId id="326" r:id="rId14"/>
    <p:sldId id="328" r:id="rId15"/>
    <p:sldId id="361" r:id="rId16"/>
    <p:sldId id="331" r:id="rId17"/>
    <p:sldId id="339" r:id="rId18"/>
    <p:sldId id="341" r:id="rId19"/>
    <p:sldId id="342" r:id="rId20"/>
    <p:sldId id="307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7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1B5EF"/>
    <a:srgbClr val="83AEF5"/>
    <a:srgbClr val="D9E8FF"/>
    <a:srgbClr val="4580C2"/>
    <a:srgbClr val="9DBFF7"/>
    <a:srgbClr val="DCD7FF"/>
    <a:srgbClr val="FFFFFF"/>
    <a:srgbClr val="E8EDEB"/>
    <a:srgbClr val="D9DCE0"/>
    <a:srgbClr val="F9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7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676" y="48"/>
      </p:cViewPr>
      <p:guideLst>
        <p:guide orient="horz" pos="2237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3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9BB12-FC6E-4185-8B44-020B6F80CC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75194-2AB6-47E0-9125-C2B4E20AE1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23372" y="121557"/>
            <a:ext cx="11945257" cy="6614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61649" y="265840"/>
            <a:ext cx="1322008" cy="369332"/>
            <a:chOff x="274564" y="280354"/>
            <a:chExt cx="1322008" cy="369332"/>
          </a:xfrm>
        </p:grpSpPr>
        <p:sp>
          <p:nvSpPr>
            <p:cNvPr id="5" name="矩形 4"/>
            <p:cNvSpPr/>
            <p:nvPr/>
          </p:nvSpPr>
          <p:spPr>
            <a:xfrm>
              <a:off x="291197" y="464458"/>
              <a:ext cx="1305375" cy="159658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4564" y="280354"/>
              <a:ext cx="1322007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团队成果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椭圆 6"/>
          <p:cNvSpPr/>
          <p:nvPr userDrawn="1"/>
        </p:nvSpPr>
        <p:spPr>
          <a:xfrm rot="16200000">
            <a:off x="10881797" y="5468150"/>
            <a:ext cx="2293839" cy="2293839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 userDrawn="1"/>
        </p:nvSpPr>
        <p:spPr>
          <a:xfrm>
            <a:off x="0" y="6342743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 flipH="1" flipV="1">
            <a:off x="10880878" y="2677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23372" y="121557"/>
            <a:ext cx="11945257" cy="6614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61649" y="265840"/>
            <a:ext cx="2718101" cy="369332"/>
            <a:chOff x="274564" y="280354"/>
            <a:chExt cx="2584751" cy="369332"/>
          </a:xfrm>
        </p:grpSpPr>
        <p:sp>
          <p:nvSpPr>
            <p:cNvPr id="5" name="矩形 4"/>
            <p:cNvSpPr/>
            <p:nvPr/>
          </p:nvSpPr>
          <p:spPr>
            <a:xfrm>
              <a:off x="291197" y="439964"/>
              <a:ext cx="2568118" cy="184152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4564" y="280354"/>
              <a:ext cx="2568118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algn="dist">
                <a:def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/>
              <a:r>
                <a:rPr lang="zh-CN" altLang="en-US" dirty="0"/>
                <a:t>团队简介</a:t>
              </a:r>
              <a:r>
                <a:rPr lang="en-US" altLang="zh-CN" dirty="0"/>
                <a:t>-</a:t>
              </a:r>
              <a:r>
                <a:rPr lang="zh-CN" altLang="en-US" dirty="0"/>
                <a:t>系统概览</a:t>
              </a:r>
              <a:endParaRPr lang="zh-CN" altLang="en-US" dirty="0"/>
            </a:p>
          </p:txBody>
        </p:sp>
      </p:grpSp>
      <p:sp>
        <p:nvSpPr>
          <p:cNvPr id="7" name="椭圆 6"/>
          <p:cNvSpPr/>
          <p:nvPr userDrawn="1"/>
        </p:nvSpPr>
        <p:spPr>
          <a:xfrm rot="16200000">
            <a:off x="10881797" y="5468150"/>
            <a:ext cx="2293839" cy="2293839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 userDrawn="1"/>
        </p:nvSpPr>
        <p:spPr>
          <a:xfrm>
            <a:off x="0" y="6342743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 flipH="1" flipV="1">
            <a:off x="10880878" y="2677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23372" y="121557"/>
            <a:ext cx="11945257" cy="6614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61649" y="265840"/>
            <a:ext cx="1322008" cy="369332"/>
            <a:chOff x="274564" y="280354"/>
            <a:chExt cx="1322008" cy="369332"/>
          </a:xfrm>
        </p:grpSpPr>
        <p:sp>
          <p:nvSpPr>
            <p:cNvPr id="5" name="矩形 4"/>
            <p:cNvSpPr/>
            <p:nvPr/>
          </p:nvSpPr>
          <p:spPr>
            <a:xfrm>
              <a:off x="291197" y="464458"/>
              <a:ext cx="1305375" cy="159658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4564" y="280354"/>
              <a:ext cx="1322007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algn="dist">
                <a:def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/>
              <a:r>
                <a:rPr lang="zh-CN" altLang="en-US" dirty="0"/>
                <a:t>团队简介</a:t>
              </a:r>
              <a:endParaRPr lang="zh-CN" altLang="en-US" dirty="0"/>
            </a:p>
          </p:txBody>
        </p:sp>
      </p:grpSp>
      <p:sp>
        <p:nvSpPr>
          <p:cNvPr id="7" name="椭圆 6"/>
          <p:cNvSpPr/>
          <p:nvPr userDrawn="1"/>
        </p:nvSpPr>
        <p:spPr>
          <a:xfrm rot="16200000">
            <a:off x="10881797" y="5468150"/>
            <a:ext cx="2293839" cy="2293839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 userDrawn="1"/>
        </p:nvSpPr>
        <p:spPr>
          <a:xfrm>
            <a:off x="0" y="6342743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 flipH="1" flipV="1">
            <a:off x="10880878" y="2677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23372" y="121557"/>
            <a:ext cx="11945257" cy="6614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61649" y="265840"/>
            <a:ext cx="1322008" cy="369332"/>
            <a:chOff x="274564" y="280354"/>
            <a:chExt cx="1322008" cy="369332"/>
          </a:xfrm>
        </p:grpSpPr>
        <p:sp>
          <p:nvSpPr>
            <p:cNvPr id="5" name="矩形 4"/>
            <p:cNvSpPr/>
            <p:nvPr/>
          </p:nvSpPr>
          <p:spPr>
            <a:xfrm>
              <a:off x="291197" y="464458"/>
              <a:ext cx="1305375" cy="159658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4564" y="280354"/>
              <a:ext cx="1322007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algn="dist">
                <a:def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/>
              <a:r>
                <a:rPr lang="zh-CN" altLang="en-US" dirty="0"/>
                <a:t>存在问题</a:t>
              </a:r>
              <a:endParaRPr lang="zh-CN" altLang="en-US" dirty="0"/>
            </a:p>
          </p:txBody>
        </p:sp>
      </p:grpSp>
      <p:sp>
        <p:nvSpPr>
          <p:cNvPr id="7" name="椭圆 6"/>
          <p:cNvSpPr/>
          <p:nvPr userDrawn="1"/>
        </p:nvSpPr>
        <p:spPr>
          <a:xfrm rot="16200000">
            <a:off x="10881797" y="5468150"/>
            <a:ext cx="2293839" cy="2293839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 userDrawn="1"/>
        </p:nvSpPr>
        <p:spPr>
          <a:xfrm>
            <a:off x="0" y="6342743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 flipH="1" flipV="1">
            <a:off x="10880878" y="2677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123372" y="121557"/>
            <a:ext cx="11945257" cy="6614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61649" y="265840"/>
            <a:ext cx="1322008" cy="369332"/>
            <a:chOff x="274564" y="280354"/>
            <a:chExt cx="1322008" cy="369332"/>
          </a:xfrm>
        </p:grpSpPr>
        <p:sp>
          <p:nvSpPr>
            <p:cNvPr id="6" name="矩形 5"/>
            <p:cNvSpPr/>
            <p:nvPr/>
          </p:nvSpPr>
          <p:spPr>
            <a:xfrm>
              <a:off x="291197" y="464458"/>
              <a:ext cx="1305375" cy="159658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4564" y="280354"/>
              <a:ext cx="1322007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algn="dist">
                <a:def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/>
              <a:r>
                <a:rPr lang="zh-CN" altLang="en-US" dirty="0"/>
                <a:t>工作计划</a:t>
              </a:r>
              <a:endParaRPr lang="zh-CN" altLang="en-US" dirty="0"/>
            </a:p>
          </p:txBody>
        </p:sp>
      </p:grpSp>
      <p:sp>
        <p:nvSpPr>
          <p:cNvPr id="8" name="椭圆 7"/>
          <p:cNvSpPr/>
          <p:nvPr userDrawn="1"/>
        </p:nvSpPr>
        <p:spPr>
          <a:xfrm rot="16200000">
            <a:off x="10881797" y="5468150"/>
            <a:ext cx="2293839" cy="2293839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342743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 userDrawn="1"/>
        </p:nvSpPr>
        <p:spPr>
          <a:xfrm flipH="1" flipV="1">
            <a:off x="10880878" y="2677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123372" y="121557"/>
            <a:ext cx="11945257" cy="6614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61649" y="265840"/>
            <a:ext cx="1322008" cy="369332"/>
            <a:chOff x="274564" y="280354"/>
            <a:chExt cx="1322008" cy="369332"/>
          </a:xfrm>
        </p:grpSpPr>
        <p:sp>
          <p:nvSpPr>
            <p:cNvPr id="6" name="矩形 5"/>
            <p:cNvSpPr/>
            <p:nvPr/>
          </p:nvSpPr>
          <p:spPr>
            <a:xfrm>
              <a:off x="291197" y="464458"/>
              <a:ext cx="1305375" cy="159658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4564" y="280354"/>
              <a:ext cx="1322007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algn="dist">
                <a:def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/>
              <a:r>
                <a:rPr lang="zh-CN" altLang="en-US" dirty="0"/>
                <a:t>工作职责</a:t>
              </a:r>
              <a:endParaRPr lang="zh-CN" altLang="en-US" dirty="0"/>
            </a:p>
          </p:txBody>
        </p:sp>
      </p:grpSp>
      <p:sp>
        <p:nvSpPr>
          <p:cNvPr id="8" name="椭圆 7"/>
          <p:cNvSpPr/>
          <p:nvPr userDrawn="1"/>
        </p:nvSpPr>
        <p:spPr>
          <a:xfrm rot="16200000">
            <a:off x="10881797" y="5468150"/>
            <a:ext cx="2293839" cy="2293839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342743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 userDrawn="1"/>
        </p:nvSpPr>
        <p:spPr>
          <a:xfrm flipH="1" flipV="1">
            <a:off x="10880878" y="2677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123372" y="121557"/>
            <a:ext cx="11945257" cy="6614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61649" y="265840"/>
            <a:ext cx="1322008" cy="369332"/>
            <a:chOff x="274564" y="280354"/>
            <a:chExt cx="1322008" cy="369332"/>
          </a:xfrm>
        </p:grpSpPr>
        <p:sp>
          <p:nvSpPr>
            <p:cNvPr id="6" name="矩形 5"/>
            <p:cNvSpPr/>
            <p:nvPr/>
          </p:nvSpPr>
          <p:spPr>
            <a:xfrm>
              <a:off x="291197" y="464458"/>
              <a:ext cx="1305375" cy="159658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4564" y="280354"/>
              <a:ext cx="1322007" cy="36933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algn="dist">
                <a:def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/>
              <a:r>
                <a:rPr lang="zh-CN" altLang="en-US" dirty="0"/>
                <a:t>总结展望</a:t>
              </a:r>
              <a:endParaRPr lang="zh-CN" altLang="en-US" dirty="0"/>
            </a:p>
          </p:txBody>
        </p:sp>
      </p:grpSp>
      <p:sp>
        <p:nvSpPr>
          <p:cNvPr id="8" name="椭圆 7"/>
          <p:cNvSpPr/>
          <p:nvPr userDrawn="1"/>
        </p:nvSpPr>
        <p:spPr>
          <a:xfrm rot="16200000">
            <a:off x="10881797" y="5468150"/>
            <a:ext cx="2293839" cy="2293839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342743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 userDrawn="1"/>
        </p:nvSpPr>
        <p:spPr>
          <a:xfrm flipH="1" flipV="1">
            <a:off x="10880878" y="2677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123372" y="121557"/>
            <a:ext cx="11945257" cy="6614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61649" y="265840"/>
            <a:ext cx="1322008" cy="368300"/>
            <a:chOff x="274564" y="280354"/>
            <a:chExt cx="1322008" cy="368300"/>
          </a:xfrm>
        </p:grpSpPr>
        <p:sp>
          <p:nvSpPr>
            <p:cNvPr id="6" name="矩形 5"/>
            <p:cNvSpPr/>
            <p:nvPr/>
          </p:nvSpPr>
          <p:spPr>
            <a:xfrm>
              <a:off x="291197" y="464458"/>
              <a:ext cx="1305375" cy="159658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4564" y="280354"/>
              <a:ext cx="1322007" cy="36830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 algn="dist">
                <a:defRPr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/>
              <a:r>
                <a:rPr lang="zh-CN" altLang="en-US" dirty="0"/>
                <a:t>团队目标</a:t>
              </a:r>
              <a:endParaRPr lang="zh-CN" altLang="en-US" dirty="0"/>
            </a:p>
          </p:txBody>
        </p:sp>
      </p:grpSp>
      <p:sp>
        <p:nvSpPr>
          <p:cNvPr id="8" name="椭圆 7"/>
          <p:cNvSpPr/>
          <p:nvPr userDrawn="1"/>
        </p:nvSpPr>
        <p:spPr>
          <a:xfrm rot="16200000">
            <a:off x="10881797" y="5468150"/>
            <a:ext cx="2293839" cy="2293839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342743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 userDrawn="1"/>
        </p:nvSpPr>
        <p:spPr>
          <a:xfrm flipH="1" flipV="1">
            <a:off x="10880878" y="2677"/>
            <a:ext cx="1322007" cy="537983"/>
          </a:xfrm>
          <a:prstGeom prst="rtTriangle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6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hidden="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3429000"/>
            <a:ext cx="18842130" cy="6762750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-69215" y="-561340"/>
            <a:ext cx="12261215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1" b="75043"/>
          <a:stretch>
            <a:fillRect/>
          </a:stretch>
        </p:blipFill>
        <p:spPr>
          <a:xfrm>
            <a:off x="0" y="4161155"/>
            <a:ext cx="12192000" cy="2696845"/>
          </a:xfrm>
          <a:custGeom>
            <a:avLst/>
            <a:gdLst>
              <a:gd name="connsiteX0" fmla="*/ 0 w 12192000"/>
              <a:gd name="connsiteY0" fmla="*/ 0 h 2696936"/>
              <a:gd name="connsiteX1" fmla="*/ 12192000 w 12192000"/>
              <a:gd name="connsiteY1" fmla="*/ 0 h 2696936"/>
              <a:gd name="connsiteX2" fmla="*/ 12192000 w 12192000"/>
              <a:gd name="connsiteY2" fmla="*/ 2696936 h 2696936"/>
              <a:gd name="connsiteX3" fmla="*/ 0 w 12192000"/>
              <a:gd name="connsiteY3" fmla="*/ 2696936 h 2696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96936">
                <a:moveTo>
                  <a:pt x="0" y="0"/>
                </a:moveTo>
                <a:lnTo>
                  <a:pt x="12192000" y="0"/>
                </a:lnTo>
                <a:lnTo>
                  <a:pt x="12192000" y="2696936"/>
                </a:lnTo>
                <a:lnTo>
                  <a:pt x="0" y="2696936"/>
                </a:lnTo>
                <a:close/>
              </a:path>
            </a:pathLst>
          </a:custGeom>
        </p:spPr>
      </p:pic>
      <p:sp>
        <p:nvSpPr>
          <p:cNvPr id="67" name="椭圆 66"/>
          <p:cNvSpPr/>
          <p:nvPr/>
        </p:nvSpPr>
        <p:spPr>
          <a:xfrm rot="18447387">
            <a:off x="132115" y="171668"/>
            <a:ext cx="3422785" cy="3422785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9" name="椭圆 78"/>
          <p:cNvSpPr/>
          <p:nvPr/>
        </p:nvSpPr>
        <p:spPr>
          <a:xfrm rot="20446930">
            <a:off x="10607785" y="946804"/>
            <a:ext cx="1111526" cy="1111526"/>
          </a:xfrm>
          <a:prstGeom prst="ellipse">
            <a:avLst/>
          </a:prstGeom>
          <a:gradFill>
            <a:gsLst>
              <a:gs pos="0">
                <a:srgbClr val="83AEF5">
                  <a:alpha val="0"/>
                </a:srgbClr>
              </a:gs>
              <a:gs pos="100000">
                <a:srgbClr val="83AEF5">
                  <a:alpha val="55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2241340" y="274152"/>
            <a:ext cx="7930118" cy="3452647"/>
            <a:chOff x="3452621" y="2234067"/>
            <a:chExt cx="6312808" cy="3452647"/>
          </a:xfrm>
        </p:grpSpPr>
        <p:sp>
          <p:nvSpPr>
            <p:cNvPr id="74" name="矩形 73"/>
            <p:cNvSpPr/>
            <p:nvPr/>
          </p:nvSpPr>
          <p:spPr>
            <a:xfrm>
              <a:off x="3452621" y="3581400"/>
              <a:ext cx="2815772" cy="333828"/>
            </a:xfrm>
            <a:prstGeom prst="rect">
              <a:avLst/>
            </a:prstGeom>
            <a:gradFill flip="none" rotWithShape="1">
              <a:gsLst>
                <a:gs pos="0">
                  <a:srgbClr val="DCD7FF">
                    <a:alpha val="0"/>
                  </a:srgbClr>
                </a:gs>
                <a:gs pos="100000">
                  <a:srgbClr val="C1B5EF">
                    <a:alpha val="91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7660857" y="2234067"/>
              <a:ext cx="2104572" cy="352196"/>
            </a:xfrm>
            <a:prstGeom prst="rect">
              <a:avLst/>
            </a:prstGeom>
            <a:gradFill flip="none" rotWithShape="1">
              <a:gsLst>
                <a:gs pos="0">
                  <a:srgbClr val="DCD7FF">
                    <a:alpha val="0"/>
                  </a:srgbClr>
                </a:gs>
                <a:gs pos="100000">
                  <a:srgbClr val="C1B5EF">
                    <a:alpha val="91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743505" y="3218993"/>
              <a:ext cx="5295900" cy="1274536"/>
            </a:xfrm>
            <a:prstGeom prst="rect">
              <a:avLst/>
            </a:prstGeom>
            <a:solidFill>
              <a:srgbClr val="83AE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855848" y="3255279"/>
              <a:ext cx="5069257" cy="243143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7600" b="1" dirty="0">
                  <a:solidFill>
                    <a:schemeClr val="bg1"/>
                  </a:solidFill>
                  <a:cs typeface="+mn-ea"/>
                  <a:sym typeface="+mn-lt"/>
                </a:rPr>
                <a:t>2025</a:t>
              </a:r>
              <a:r>
                <a:rPr lang="zh-CN" altLang="en-US" sz="7600" b="1" dirty="0">
                  <a:solidFill>
                    <a:schemeClr val="bg1"/>
                  </a:solidFill>
                  <a:cs typeface="+mn-ea"/>
                  <a:sym typeface="+mn-lt"/>
                </a:rPr>
                <a:t>年中述职</a:t>
              </a:r>
              <a:endParaRPr lang="zh-CN" altLang="en-US" sz="7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7" name="椭圆 86"/>
          <p:cNvSpPr/>
          <p:nvPr/>
        </p:nvSpPr>
        <p:spPr>
          <a:xfrm rot="6309892">
            <a:off x="475765" y="3489503"/>
            <a:ext cx="1585769" cy="1585769"/>
          </a:xfrm>
          <a:prstGeom prst="ellipse">
            <a:avLst/>
          </a:prstGeom>
          <a:gradFill>
            <a:gsLst>
              <a:gs pos="0">
                <a:srgbClr val="83AEF5">
                  <a:alpha val="0"/>
                </a:srgbClr>
              </a:gs>
              <a:gs pos="100000">
                <a:srgbClr val="83AEF5">
                  <a:alpha val="55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096763" y="3504609"/>
            <a:ext cx="1725669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汇报人：赵鑫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96510" y="4433570"/>
            <a:ext cx="2729230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日  期：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2025/07/04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96763" y="3964801"/>
            <a:ext cx="2852403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部  门：研发部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账务组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635" y="635"/>
            <a:ext cx="12267565" cy="6965315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6" b="63019"/>
          <a:stretch>
            <a:fillRect/>
          </a:stretch>
        </p:blipFill>
        <p:spPr>
          <a:xfrm rot="12501821" flipV="1">
            <a:off x="-742456" y="4508276"/>
            <a:ext cx="8865042" cy="4064646"/>
          </a:xfrm>
          <a:custGeom>
            <a:avLst/>
            <a:gdLst>
              <a:gd name="connsiteX0" fmla="*/ 8865042 w 8865042"/>
              <a:gd name="connsiteY0" fmla="*/ 0 h 4064646"/>
              <a:gd name="connsiteX1" fmla="*/ 0 w 8865042"/>
              <a:gd name="connsiteY1" fmla="*/ 0 h 4064646"/>
              <a:gd name="connsiteX2" fmla="*/ 7528807 w 8865042"/>
              <a:gd name="connsiteY2" fmla="*/ 4064646 h 4064646"/>
              <a:gd name="connsiteX3" fmla="*/ 8865042 w 8865042"/>
              <a:gd name="connsiteY3" fmla="*/ 1589584 h 406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5042" h="4064646">
                <a:moveTo>
                  <a:pt x="8865042" y="0"/>
                </a:moveTo>
                <a:lnTo>
                  <a:pt x="0" y="0"/>
                </a:lnTo>
                <a:lnTo>
                  <a:pt x="7528807" y="4064646"/>
                </a:lnTo>
                <a:lnTo>
                  <a:pt x="8865042" y="1589584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6" b="63019"/>
          <a:stretch>
            <a:fillRect/>
          </a:stretch>
        </p:blipFill>
        <p:spPr>
          <a:xfrm rot="12501821" flipH="1">
            <a:off x="4069415" y="-1714922"/>
            <a:ext cx="8865042" cy="4064646"/>
          </a:xfrm>
          <a:custGeom>
            <a:avLst/>
            <a:gdLst>
              <a:gd name="connsiteX0" fmla="*/ 8865042 w 8865042"/>
              <a:gd name="connsiteY0" fmla="*/ 0 h 4064646"/>
              <a:gd name="connsiteX1" fmla="*/ 0 w 8865042"/>
              <a:gd name="connsiteY1" fmla="*/ 0 h 4064646"/>
              <a:gd name="connsiteX2" fmla="*/ 7528807 w 8865042"/>
              <a:gd name="connsiteY2" fmla="*/ 4064646 h 4064646"/>
              <a:gd name="connsiteX3" fmla="*/ 8865042 w 8865042"/>
              <a:gd name="connsiteY3" fmla="*/ 1589584 h 406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5042" h="4064646">
                <a:moveTo>
                  <a:pt x="8865042" y="0"/>
                </a:moveTo>
                <a:lnTo>
                  <a:pt x="0" y="0"/>
                </a:lnTo>
                <a:lnTo>
                  <a:pt x="7528807" y="4064646"/>
                </a:lnTo>
                <a:lnTo>
                  <a:pt x="8865042" y="1589584"/>
                </a:lnTo>
                <a:close/>
              </a:path>
            </a:pathLst>
          </a:custGeom>
        </p:spPr>
      </p:pic>
      <p:sp>
        <p:nvSpPr>
          <p:cNvPr id="12" name="椭圆 11"/>
          <p:cNvSpPr/>
          <p:nvPr/>
        </p:nvSpPr>
        <p:spPr>
          <a:xfrm rot="17067964">
            <a:off x="1152326" y="1968677"/>
            <a:ext cx="2004247" cy="2004247"/>
          </a:xfrm>
          <a:prstGeom prst="ellipse">
            <a:avLst/>
          </a:prstGeom>
          <a:gradFill>
            <a:gsLst>
              <a:gs pos="0">
                <a:srgbClr val="DCD7FF">
                  <a:alpha val="0"/>
                </a:srgbClr>
              </a:gs>
              <a:gs pos="100000">
                <a:srgbClr val="C1B5EF">
                  <a:alpha val="91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979" y="2159435"/>
            <a:ext cx="242584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8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目录</a:t>
            </a:r>
            <a:endParaRPr lang="zh-CN" altLang="en-US" sz="88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3365" y="3421164"/>
            <a:ext cx="2728598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CONTANTS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6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7329342" y="5587920"/>
            <a:ext cx="2782507" cy="768350"/>
            <a:chOff x="5321611" y="7426893"/>
            <a:chExt cx="2782507" cy="2187807"/>
          </a:xfrm>
        </p:grpSpPr>
        <p:sp>
          <p:nvSpPr>
            <p:cNvPr id="72" name="矩形 71"/>
            <p:cNvSpPr/>
            <p:nvPr/>
          </p:nvSpPr>
          <p:spPr>
            <a:xfrm>
              <a:off x="5321611" y="8196334"/>
              <a:ext cx="2782507" cy="1364960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5321611" y="7426893"/>
              <a:ext cx="2782507" cy="218780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工作计划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4546835" y="431255"/>
            <a:ext cx="2782507" cy="769441"/>
            <a:chOff x="4557667" y="7340574"/>
            <a:chExt cx="2782507" cy="2190914"/>
          </a:xfrm>
        </p:grpSpPr>
        <p:sp>
          <p:nvSpPr>
            <p:cNvPr id="104" name="矩形 103"/>
            <p:cNvSpPr/>
            <p:nvPr/>
          </p:nvSpPr>
          <p:spPr>
            <a:xfrm>
              <a:off x="4557667" y="8110015"/>
              <a:ext cx="2782507" cy="1364960"/>
            </a:xfrm>
            <a:prstGeom prst="rect">
              <a:avLst/>
            </a:prstGeom>
            <a:gradFill flip="none" rotWithShape="1">
              <a:gsLst>
                <a:gs pos="0">
                  <a:srgbClr val="83AEF5">
                    <a:alpha val="84000"/>
                  </a:srgbClr>
                </a:gs>
                <a:gs pos="100000">
                  <a:srgbClr val="83AEF5">
                    <a:alpha val="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4557667" y="7340574"/>
              <a:ext cx="2782507" cy="219091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4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团队介绍</a:t>
              </a:r>
              <a:endPara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7329342" y="1660219"/>
            <a:ext cx="2782507" cy="479369"/>
          </a:xfrm>
          <a:prstGeom prst="rect">
            <a:avLst/>
          </a:prstGeom>
          <a:gradFill flip="none" rotWithShape="1">
            <a:gsLst>
              <a:gs pos="0">
                <a:srgbClr val="83AEF5">
                  <a:alpha val="84000"/>
                </a:srgbClr>
              </a:gs>
              <a:gs pos="100000">
                <a:srgbClr val="83AEF5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7329342" y="1389994"/>
            <a:ext cx="2782507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工作职责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4546835" y="2713442"/>
            <a:ext cx="2782507" cy="479369"/>
          </a:xfrm>
          <a:prstGeom prst="rect">
            <a:avLst/>
          </a:prstGeom>
          <a:gradFill flip="none" rotWithShape="1">
            <a:gsLst>
              <a:gs pos="0">
                <a:srgbClr val="83AEF5">
                  <a:alpha val="84000"/>
                </a:srgbClr>
              </a:gs>
              <a:gs pos="100000">
                <a:srgbClr val="83AEF5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4546835" y="2443217"/>
            <a:ext cx="2782507" cy="7683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团队</a:t>
            </a:r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目标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7329342" y="3699737"/>
            <a:ext cx="2782507" cy="479369"/>
          </a:xfrm>
          <a:prstGeom prst="rect">
            <a:avLst/>
          </a:prstGeom>
          <a:gradFill flip="none" rotWithShape="1">
            <a:gsLst>
              <a:gs pos="0">
                <a:srgbClr val="83AEF5">
                  <a:alpha val="84000"/>
                </a:srgbClr>
              </a:gs>
              <a:gs pos="100000">
                <a:srgbClr val="83AEF5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7329342" y="3429512"/>
            <a:ext cx="2782507" cy="7683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团队成果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4546835" y="4837087"/>
            <a:ext cx="2782507" cy="479369"/>
          </a:xfrm>
          <a:prstGeom prst="rect">
            <a:avLst/>
          </a:prstGeom>
          <a:gradFill flip="none" rotWithShape="1">
            <a:gsLst>
              <a:gs pos="0">
                <a:srgbClr val="83AEF5">
                  <a:alpha val="84000"/>
                </a:srgbClr>
              </a:gs>
              <a:gs pos="100000">
                <a:srgbClr val="83AEF5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4546835" y="4566862"/>
            <a:ext cx="2782507" cy="7683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存在问题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71014" y="294288"/>
            <a:ext cx="1269172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6600" b="1" dirty="0">
                <a:gradFill>
                  <a:gsLst>
                    <a:gs pos="22000">
                      <a:srgbClr val="83AEF5">
                        <a:alpha val="0"/>
                      </a:srgbClr>
                    </a:gs>
                    <a:gs pos="100000">
                      <a:srgbClr val="83AEF5"/>
                    </a:gs>
                  </a:gsLst>
                  <a:lin ang="16200000" scaled="1"/>
                </a:gradFill>
                <a:cs typeface="+mn-ea"/>
                <a:sym typeface="+mn-lt"/>
              </a:rPr>
              <a:t>01</a:t>
            </a:r>
            <a:endParaRPr lang="zh-CN" altLang="en-US" sz="6600" b="1" dirty="0">
              <a:gradFill>
                <a:gsLst>
                  <a:gs pos="22000">
                    <a:srgbClr val="83AEF5">
                      <a:alpha val="0"/>
                    </a:srgbClr>
                  </a:gs>
                  <a:gs pos="100000">
                    <a:srgbClr val="83AEF5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25134" y="1263618"/>
            <a:ext cx="1269172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6600" b="1" dirty="0">
                <a:gradFill>
                  <a:gsLst>
                    <a:gs pos="22000">
                      <a:srgbClr val="83AEF5">
                        <a:alpha val="0"/>
                      </a:srgbClr>
                    </a:gs>
                    <a:gs pos="100000">
                      <a:srgbClr val="83AEF5"/>
                    </a:gs>
                  </a:gsLst>
                  <a:lin ang="16200000" scaled="1"/>
                </a:gradFill>
                <a:cs typeface="+mn-ea"/>
                <a:sym typeface="+mn-lt"/>
              </a:rPr>
              <a:t>02</a:t>
            </a:r>
            <a:endParaRPr lang="zh-CN" altLang="en-US" sz="6600" b="1" dirty="0">
              <a:gradFill>
                <a:gsLst>
                  <a:gs pos="22000">
                    <a:srgbClr val="83AEF5">
                      <a:alpha val="0"/>
                    </a:srgbClr>
                  </a:gs>
                  <a:gs pos="100000">
                    <a:srgbClr val="83AEF5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71014" y="2371614"/>
            <a:ext cx="1269172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6600" b="1" dirty="0">
                <a:gradFill>
                  <a:gsLst>
                    <a:gs pos="22000">
                      <a:srgbClr val="83AEF5">
                        <a:alpha val="0"/>
                      </a:srgbClr>
                    </a:gs>
                    <a:gs pos="100000">
                      <a:srgbClr val="83AEF5"/>
                    </a:gs>
                  </a:gsLst>
                  <a:lin ang="16200000" scaled="1"/>
                </a:gradFill>
                <a:cs typeface="+mn-ea"/>
                <a:sym typeface="+mn-lt"/>
              </a:rPr>
              <a:t>03</a:t>
            </a:r>
            <a:endParaRPr lang="zh-CN" altLang="en-US" sz="6600" b="1" dirty="0">
              <a:gradFill>
                <a:gsLst>
                  <a:gs pos="22000">
                    <a:srgbClr val="83AEF5">
                      <a:alpha val="0"/>
                    </a:srgbClr>
                  </a:gs>
                  <a:gs pos="100000">
                    <a:srgbClr val="83AEF5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0" y="3315815"/>
            <a:ext cx="1269172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6600" b="1" dirty="0">
                <a:gradFill>
                  <a:gsLst>
                    <a:gs pos="22000">
                      <a:srgbClr val="83AEF5">
                        <a:alpha val="0"/>
                      </a:srgbClr>
                    </a:gs>
                    <a:gs pos="100000">
                      <a:srgbClr val="83AEF5"/>
                    </a:gs>
                  </a:gsLst>
                  <a:lin ang="16200000" scaled="1"/>
                </a:gradFill>
                <a:cs typeface="+mn-ea"/>
                <a:sym typeface="+mn-lt"/>
              </a:rPr>
              <a:t>04</a:t>
            </a:r>
            <a:endParaRPr lang="zh-CN" altLang="en-US" sz="6600" b="1" dirty="0">
              <a:gradFill>
                <a:gsLst>
                  <a:gs pos="22000">
                    <a:srgbClr val="83AEF5">
                      <a:alpha val="0"/>
                    </a:srgbClr>
                  </a:gs>
                  <a:gs pos="100000">
                    <a:srgbClr val="83AEF5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71014" y="4439940"/>
            <a:ext cx="1269172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6600" b="1" dirty="0">
                <a:gradFill>
                  <a:gsLst>
                    <a:gs pos="22000">
                      <a:srgbClr val="83AEF5">
                        <a:alpha val="0"/>
                      </a:srgbClr>
                    </a:gs>
                    <a:gs pos="100000">
                      <a:srgbClr val="83AEF5"/>
                    </a:gs>
                  </a:gsLst>
                  <a:lin ang="16200000" scaled="1"/>
                </a:gradFill>
                <a:cs typeface="+mn-ea"/>
                <a:sym typeface="+mn-lt"/>
              </a:rPr>
              <a:t>05</a:t>
            </a:r>
            <a:endParaRPr lang="zh-CN" altLang="en-US" sz="6600" b="1" dirty="0">
              <a:gradFill>
                <a:gsLst>
                  <a:gs pos="22000">
                    <a:srgbClr val="83AEF5">
                      <a:alpha val="0"/>
                    </a:srgbClr>
                  </a:gs>
                  <a:gs pos="100000">
                    <a:srgbClr val="83AEF5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5479354"/>
            <a:ext cx="1269172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6600" b="1" dirty="0">
                <a:gradFill>
                  <a:gsLst>
                    <a:gs pos="22000">
                      <a:srgbClr val="83AEF5">
                        <a:alpha val="0"/>
                      </a:srgbClr>
                    </a:gs>
                    <a:gs pos="100000">
                      <a:srgbClr val="83AEF5"/>
                    </a:gs>
                  </a:gsLst>
                  <a:lin ang="16200000" scaled="1"/>
                </a:gradFill>
                <a:cs typeface="+mn-ea"/>
                <a:sym typeface="+mn-lt"/>
              </a:rPr>
              <a:t>06</a:t>
            </a:r>
            <a:endParaRPr lang="zh-CN" altLang="en-US" sz="6600" b="1" dirty="0">
              <a:gradFill>
                <a:gsLst>
                  <a:gs pos="22000">
                    <a:srgbClr val="83AEF5">
                      <a:alpha val="0"/>
                    </a:srgbClr>
                  </a:gs>
                  <a:gs pos="100000">
                    <a:srgbClr val="83AEF5"/>
                  </a:gs>
                </a:gsLst>
                <a:lin ang="16200000" scaled="1"/>
              </a:gra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162764" y="3184007"/>
            <a:ext cx="1820052" cy="907751"/>
            <a:chOff x="3666731" y="1984470"/>
            <a:chExt cx="2636520" cy="1447800"/>
          </a:xfrm>
          <a:solidFill>
            <a:srgbClr val="C00000"/>
          </a:solidFill>
          <a:effectLst/>
        </p:grpSpPr>
        <p:sp>
          <p:nvSpPr>
            <p:cNvPr id="3" name="任意多边形 92"/>
            <p:cNvSpPr/>
            <p:nvPr/>
          </p:nvSpPr>
          <p:spPr>
            <a:xfrm>
              <a:off x="3666731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83AEF5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5"/>
            <p:cNvSpPr txBox="1"/>
            <p:nvPr/>
          </p:nvSpPr>
          <p:spPr>
            <a:xfrm>
              <a:off x="3971726" y="2379223"/>
              <a:ext cx="2230360" cy="658295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baseline="-3000" dirty="0">
                  <a:solidFill>
                    <a:srgbClr val="FFFFFF"/>
                  </a:solidFill>
                  <a:cs typeface="+mn-ea"/>
                  <a:sym typeface="+mn-lt"/>
                </a:rPr>
                <a:t>账户</a:t>
              </a:r>
              <a:endParaRPr lang="zh-CN" altLang="en-US" sz="2800" b="1" baseline="-30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52748" y="3172499"/>
            <a:ext cx="1820052" cy="907751"/>
            <a:chOff x="1436370" y="1984470"/>
            <a:chExt cx="2636520" cy="1447800"/>
          </a:xfrm>
          <a:solidFill>
            <a:srgbClr val="C00000"/>
          </a:solidFill>
          <a:effectLst/>
        </p:grpSpPr>
        <p:sp>
          <p:nvSpPr>
            <p:cNvPr id="6" name="任意多边形 95"/>
            <p:cNvSpPr/>
            <p:nvPr/>
          </p:nvSpPr>
          <p:spPr>
            <a:xfrm>
              <a:off x="1436370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83AEF5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文本框 43"/>
            <p:cNvSpPr txBox="1"/>
            <p:nvPr/>
          </p:nvSpPr>
          <p:spPr>
            <a:xfrm>
              <a:off x="1709209" y="2379225"/>
              <a:ext cx="2293960" cy="658295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baseline="-3000" dirty="0">
                  <a:solidFill>
                    <a:schemeClr val="bg1"/>
                  </a:solidFill>
                  <a:cs typeface="+mn-ea"/>
                  <a:sym typeface="+mn-lt"/>
                </a:rPr>
                <a:t>产品</a:t>
              </a:r>
              <a:endParaRPr lang="zh-CN" altLang="en-US" sz="2800" b="1" baseline="-3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219917" y="3172498"/>
            <a:ext cx="1820052" cy="907751"/>
            <a:chOff x="8127453" y="1984470"/>
            <a:chExt cx="2636520" cy="1447800"/>
          </a:xfrm>
          <a:solidFill>
            <a:srgbClr val="C00000"/>
          </a:solidFill>
          <a:effectLst/>
        </p:grpSpPr>
        <p:sp>
          <p:nvSpPr>
            <p:cNvPr id="9" name="任意多边形 98"/>
            <p:cNvSpPr/>
            <p:nvPr/>
          </p:nvSpPr>
          <p:spPr>
            <a:xfrm>
              <a:off x="8127453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83AEF5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46"/>
            <p:cNvSpPr txBox="1"/>
            <p:nvPr/>
          </p:nvSpPr>
          <p:spPr>
            <a:xfrm>
              <a:off x="8439016" y="2379223"/>
              <a:ext cx="2230360" cy="658295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baseline="-3000" dirty="0">
                  <a:solidFill>
                    <a:srgbClr val="FFFFFF"/>
                  </a:solidFill>
                  <a:cs typeface="+mn-ea"/>
                  <a:sym typeface="+mn-lt"/>
                </a:rPr>
                <a:t>还款</a:t>
              </a:r>
              <a:endParaRPr lang="zh-CN" altLang="en-US" sz="2800" b="1" baseline="-30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240833" y="3172499"/>
            <a:ext cx="1820052" cy="907751"/>
            <a:chOff x="5897092" y="1984470"/>
            <a:chExt cx="2636520" cy="1447800"/>
          </a:xfrm>
          <a:solidFill>
            <a:srgbClr val="C00000"/>
          </a:solidFill>
          <a:effectLst/>
        </p:grpSpPr>
        <p:sp>
          <p:nvSpPr>
            <p:cNvPr id="12" name="任意多边形 101"/>
            <p:cNvSpPr/>
            <p:nvPr/>
          </p:nvSpPr>
          <p:spPr>
            <a:xfrm>
              <a:off x="5897092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83AEF5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文本框 49"/>
            <p:cNvSpPr txBox="1"/>
            <p:nvPr/>
          </p:nvSpPr>
          <p:spPr>
            <a:xfrm>
              <a:off x="6227711" y="2379227"/>
              <a:ext cx="2205655" cy="658295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baseline="-3000" dirty="0">
                  <a:solidFill>
                    <a:schemeClr val="bg1"/>
                  </a:solidFill>
                  <a:cs typeface="+mn-ea"/>
                  <a:sym typeface="+mn-lt"/>
                </a:rPr>
                <a:t>借款</a:t>
              </a:r>
              <a:endParaRPr lang="zh-CN" altLang="en-US" sz="2800" b="1" baseline="-3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8" name="TextBox 2"/>
          <p:cNvSpPr txBox="1"/>
          <p:nvPr/>
        </p:nvSpPr>
        <p:spPr>
          <a:xfrm>
            <a:off x="561494" y="2333391"/>
            <a:ext cx="15029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sz="2400" b="1" kern="0" dirty="0">
                <a:solidFill>
                  <a:srgbClr val="595959"/>
                </a:solidFill>
                <a:cs typeface="+mn-ea"/>
                <a:sym typeface="+mn-lt"/>
              </a:rPr>
              <a:t>业务职责</a:t>
            </a:r>
            <a:endParaRPr lang="zh-CN" altLang="en-US" sz="2400" b="1" kern="0" dirty="0">
              <a:solidFill>
                <a:srgbClr val="595959"/>
              </a:solidFill>
              <a:cs typeface="+mn-ea"/>
              <a:sym typeface="+mn-lt"/>
            </a:endParaRPr>
          </a:p>
        </p:txBody>
      </p:sp>
      <p:sp>
        <p:nvSpPr>
          <p:cNvPr id="15" name="TextBox 2"/>
          <p:cNvSpPr txBox="1"/>
          <p:nvPr/>
        </p:nvSpPr>
        <p:spPr>
          <a:xfrm>
            <a:off x="561494" y="996936"/>
            <a:ext cx="3511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sz="2400" b="1" kern="0" dirty="0">
                <a:solidFill>
                  <a:srgbClr val="595959"/>
                </a:solidFill>
                <a:cs typeface="+mn-ea"/>
                <a:sym typeface="+mn-lt"/>
              </a:rPr>
              <a:t>团队构成</a:t>
            </a:r>
            <a:endParaRPr lang="zh-CN" altLang="en-US" sz="2400" b="1" kern="0" dirty="0">
              <a:solidFill>
                <a:srgbClr val="595959"/>
              </a:solidFill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255048" y="3171940"/>
            <a:ext cx="1820052" cy="907751"/>
            <a:chOff x="8127453" y="1984470"/>
            <a:chExt cx="2636520" cy="1447800"/>
          </a:xfrm>
          <a:solidFill>
            <a:srgbClr val="C00000"/>
          </a:solidFill>
          <a:effectLst/>
        </p:grpSpPr>
        <p:sp>
          <p:nvSpPr>
            <p:cNvPr id="19" name="任意多边形 98"/>
            <p:cNvSpPr/>
            <p:nvPr/>
          </p:nvSpPr>
          <p:spPr>
            <a:xfrm>
              <a:off x="8127453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46"/>
            <p:cNvSpPr txBox="1"/>
            <p:nvPr/>
          </p:nvSpPr>
          <p:spPr>
            <a:xfrm>
              <a:off x="8439016" y="2379223"/>
              <a:ext cx="2230360" cy="658295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800" b="1" baseline="-3000" dirty="0">
                  <a:solidFill>
                    <a:srgbClr val="FFFFFF"/>
                  </a:solidFill>
                  <a:cs typeface="+mn-ea"/>
                  <a:sym typeface="+mn-lt"/>
                </a:rPr>
                <a:t>支撑</a:t>
              </a:r>
              <a:endParaRPr lang="zh-CN" altLang="en-US" sz="2800" b="1" baseline="-30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1" name="矩形 47"/>
          <p:cNvSpPr>
            <a:spLocks noChangeArrowheads="1"/>
          </p:cNvSpPr>
          <p:nvPr/>
        </p:nvSpPr>
        <p:spPr bwMode="auto">
          <a:xfrm>
            <a:off x="9017569" y="4091758"/>
            <a:ext cx="2246983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5" rIns="91428" bIns="45715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cs typeface="+mn-ea"/>
                <a:sym typeface="+mn-lt"/>
              </a:rPr>
              <a:t>渠道对接</a:t>
            </a:r>
            <a:endParaRPr lang="en-US" altLang="zh-CN" sz="1400" dirty="0">
              <a:solidFill>
                <a:srgbClr val="404040"/>
              </a:solidFill>
              <a:cs typeface="+mn-ea"/>
              <a:sym typeface="+mn-lt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cs typeface="+mn-ea"/>
                <a:sym typeface="+mn-lt"/>
              </a:rPr>
              <a:t>数据分析</a:t>
            </a:r>
            <a:endParaRPr lang="en-US" altLang="zh-CN" sz="1400" dirty="0">
              <a:solidFill>
                <a:srgbClr val="404040"/>
              </a:solidFill>
              <a:cs typeface="+mn-ea"/>
              <a:sym typeface="+mn-lt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cs typeface="+mn-ea"/>
                <a:sym typeface="+mn-lt"/>
              </a:rPr>
              <a:t>营销数据</a:t>
            </a:r>
            <a:endParaRPr lang="en-US" altLang="zh-CN" sz="1400" dirty="0">
              <a:solidFill>
                <a:srgbClr val="404040"/>
              </a:solidFill>
              <a:cs typeface="+mn-ea"/>
              <a:sym typeface="+mn-lt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cs typeface="+mn-ea"/>
                <a:sym typeface="+mn-lt"/>
              </a:rPr>
              <a:t>运营问题排查</a:t>
            </a:r>
            <a:endParaRPr lang="en-US" altLang="zh-CN" sz="1400" dirty="0">
              <a:solidFill>
                <a:srgbClr val="404040"/>
              </a:solidFill>
              <a:cs typeface="+mn-ea"/>
              <a:sym typeface="+mn-lt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cs typeface="+mn-ea"/>
                <a:sym typeface="+mn-lt"/>
              </a:rPr>
              <a:t>机构沟通</a:t>
            </a:r>
            <a:endParaRPr lang="en-US" altLang="zh-CN" sz="1400" dirty="0">
              <a:solidFill>
                <a:srgbClr val="404040"/>
              </a:solidFill>
              <a:cs typeface="+mn-ea"/>
              <a:sym typeface="+mn-lt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solidFill>
                  <a:srgbClr val="404040"/>
                </a:solidFill>
                <a:cs typeface="+mn-ea"/>
                <a:sym typeface="+mn-lt"/>
              </a:rPr>
              <a:t>……</a:t>
            </a:r>
            <a:endParaRPr lang="en-US" altLang="zh-CN" sz="1400" dirty="0">
              <a:solidFill>
                <a:srgbClr val="404040"/>
              </a:solidFill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90639" y="1605540"/>
            <a:ext cx="654435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404040"/>
                </a:solidFill>
                <a:cs typeface="+mn-ea"/>
                <a:sym typeface="+mn-lt"/>
              </a:rPr>
              <a:t>由</a:t>
            </a:r>
            <a:r>
              <a:rPr lang="en-US" altLang="zh-CN" dirty="0">
                <a:solidFill>
                  <a:srgbClr val="404040"/>
                </a:solidFill>
                <a:cs typeface="+mn-ea"/>
                <a:sym typeface="+mn-lt"/>
              </a:rPr>
              <a:t>5</a:t>
            </a:r>
            <a:r>
              <a:rPr lang="zh-CN" altLang="en-US" dirty="0">
                <a:solidFill>
                  <a:srgbClr val="404040"/>
                </a:solidFill>
                <a:cs typeface="+mn-ea"/>
                <a:sym typeface="+mn-lt"/>
              </a:rPr>
              <a:t>人组成的技术团队，其中</a:t>
            </a:r>
            <a:r>
              <a:rPr lang="en-US" altLang="zh-CN" dirty="0">
                <a:solidFill>
                  <a:srgbClr val="404040"/>
                </a:solidFill>
                <a:cs typeface="+mn-ea"/>
                <a:sym typeface="+mn-lt"/>
              </a:rPr>
              <a:t>2</a:t>
            </a:r>
            <a:r>
              <a:rPr lang="zh-CN" altLang="en-US" dirty="0">
                <a:solidFill>
                  <a:srgbClr val="404040"/>
                </a:solidFill>
                <a:cs typeface="+mn-ea"/>
                <a:sym typeface="+mn-lt"/>
              </a:rPr>
              <a:t>名为今年上半年新加入的伙伴。</a:t>
            </a:r>
            <a:endParaRPr lang="en-US" altLang="zh-CN" sz="1800" dirty="0">
              <a:solidFill>
                <a:srgbClr val="40404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80191" y="1219380"/>
            <a:ext cx="4800599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/>
              <a:t>技术职责</a:t>
            </a:r>
            <a:endParaRPr lang="en-US" altLang="zh-CN" b="1" dirty="0"/>
          </a:p>
          <a:p>
            <a:pPr>
              <a:buClr>
                <a:srgbClr val="000000"/>
              </a:buClr>
              <a:buFont typeface="Arial" panose="020B0604020202090204"/>
              <a:buNone/>
            </a:pPr>
            <a:endParaRPr lang="en-US" altLang="zh-CN" b="1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r>
              <a:rPr lang="zh-CN" altLang="en-US" sz="1600" dirty="0"/>
              <a:t>负责账务系统的架构设计与开发推进</a:t>
            </a:r>
            <a:endParaRPr lang="en-US" altLang="zh-CN" sz="1600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endParaRPr lang="zh-CN" altLang="en-US" sz="1600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r>
              <a:rPr lang="zh-CN" altLang="en-US" sz="1600" dirty="0"/>
              <a:t>指导借还流程的技术实现与性能优化</a:t>
            </a:r>
            <a:endParaRPr lang="en-US" altLang="zh-CN" sz="1600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endParaRPr lang="zh-CN" altLang="en-US" sz="1600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r>
              <a:rPr lang="zh-CN" altLang="en-US" sz="1600" dirty="0"/>
              <a:t>机构接口对接，保障数据安全，解决对接过程中遇到的问题</a:t>
            </a:r>
            <a:endParaRPr lang="zh-CN" altLang="en-US" sz="1600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endParaRPr lang="zh-CN" altLang="en-US" sz="1600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r>
              <a:rPr lang="zh-CN" altLang="en-US" sz="1600" dirty="0"/>
              <a:t>确保系统具备良好的日志、监控、报警机制</a:t>
            </a:r>
            <a:endParaRPr lang="en-US" altLang="zh-CN" sz="1600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endParaRPr lang="en-US" altLang="zh-CN" sz="1600" dirty="0"/>
          </a:p>
        </p:txBody>
      </p:sp>
      <p:sp>
        <p:nvSpPr>
          <p:cNvPr id="9" name="文本框 8"/>
          <p:cNvSpPr txBox="1"/>
          <p:nvPr/>
        </p:nvSpPr>
        <p:spPr>
          <a:xfrm>
            <a:off x="6180557" y="1219380"/>
            <a:ext cx="502477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/>
              <a:t>管理职责</a:t>
            </a:r>
            <a:endParaRPr lang="en-US" altLang="zh-CN" b="1" dirty="0"/>
          </a:p>
          <a:p>
            <a:pPr>
              <a:buClr>
                <a:srgbClr val="000000"/>
              </a:buClr>
              <a:buFont typeface="Arial" panose="020B0604020202090204"/>
              <a:buNone/>
            </a:pPr>
            <a:endParaRPr lang="en-US" altLang="zh-CN" b="1" dirty="0"/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团队人员管理与任务分配</a:t>
            </a:r>
            <a:endParaRPr lang="en-US" altLang="zh-CN" sz="1600" dirty="0">
              <a:sym typeface="+mn-lt"/>
            </a:endParaRPr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endParaRPr lang="zh-CN" altLang="en-US" sz="1600" dirty="0">
              <a:sym typeface="+mn-lt"/>
            </a:endParaRPr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代码质量把控、需求进度把控</a:t>
            </a:r>
            <a:endParaRPr lang="en-US" altLang="zh-CN" sz="1600" dirty="0">
              <a:sym typeface="+mn-lt"/>
            </a:endParaRPr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endParaRPr lang="zh-CN" altLang="en-US" sz="1600" dirty="0">
              <a:sym typeface="+mn-lt"/>
            </a:endParaRPr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协调前后端、测试、产品等多方资源，确保项目按时高质量交付</a:t>
            </a:r>
            <a:endParaRPr lang="en-US" altLang="zh-CN" sz="1600" dirty="0">
              <a:sym typeface="+mn-lt"/>
            </a:endParaRPr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endParaRPr lang="zh-CN" altLang="en-US" sz="1600" dirty="0">
              <a:sym typeface="+mn-lt"/>
            </a:endParaRPr>
          </a:p>
          <a:p>
            <a:pPr marL="285750" indent="-285750">
              <a:buClr>
                <a:srgbClr val="000000"/>
              </a:buClr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提升团队整体技术水平与协作效率</a:t>
            </a:r>
            <a:endParaRPr lang="zh-CN" altLang="en-US" sz="1600" dirty="0"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33746" y="5179554"/>
            <a:ext cx="57916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</a:pPr>
            <a:r>
              <a:rPr lang="zh-CN" altLang="en-US" sz="1600" dirty="0"/>
              <a:t>保障核心功能的稳定运行与持续优化，支撑公司业务顺利开展。</a:t>
            </a:r>
            <a:endParaRPr lang="zh-CN" altLang="en-US" sz="1600" dirty="0"/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1609551" y="1297485"/>
            <a:ext cx="9207039" cy="498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推进机构核心数据【还款计划】准确合规落库</a:t>
            </a:r>
            <a:endParaRPr lang="zh-CN" altLang="en-US" sz="1600" dirty="0">
              <a:sym typeface="+mn-lt"/>
            </a:endParaRPr>
          </a:p>
        </p:txBody>
      </p:sp>
      <p:sp>
        <p:nvSpPr>
          <p:cNvPr id="41" name="TextBox 2"/>
          <p:cNvSpPr txBox="1"/>
          <p:nvPr/>
        </p:nvSpPr>
        <p:spPr>
          <a:xfrm>
            <a:off x="1517476" y="1059000"/>
            <a:ext cx="32069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en-US" altLang="zh-CN" b="1" dirty="0">
                <a:sym typeface="+mn-lt"/>
              </a:rPr>
              <a:t>OKR-</a:t>
            </a:r>
            <a:r>
              <a:rPr lang="zh-CN" altLang="en-US" b="1" dirty="0">
                <a:sym typeface="+mn-lt"/>
              </a:rPr>
              <a:t>数据治理项目</a:t>
            </a:r>
            <a:endParaRPr lang="zh-CN" altLang="en-US" b="1" dirty="0">
              <a:sym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17476" y="1937660"/>
            <a:ext cx="4311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>
                <a:sym typeface="+mn-lt"/>
              </a:rPr>
              <a:t>OKR-循环额度机构优化调整项目 </a:t>
            </a:r>
            <a:endParaRPr lang="zh-CN" altLang="en-US" b="1" dirty="0"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14651" y="2201407"/>
            <a:ext cx="9206865" cy="11435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提高循环额度机构占比，推进相应机构接入平稳落地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机构首复贷标签</a:t>
            </a:r>
            <a:r>
              <a:rPr lang="zh-CN" altLang="en-US" sz="1600" dirty="0">
                <a:sym typeface="+mn-lt"/>
              </a:rPr>
              <a:t>落地及应用</a:t>
            </a:r>
            <a:endParaRPr lang="zh-CN" altLang="en-US" sz="1600" dirty="0">
              <a:sym typeface="+mn-lt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1517475" y="3357984"/>
            <a:ext cx="32069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>
                <a:sym typeface="+mn-lt"/>
              </a:rPr>
              <a:t>需求高质量交付</a:t>
            </a:r>
            <a:endParaRPr lang="zh-CN" altLang="en-US" b="1" dirty="0"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17475" y="3660064"/>
            <a:ext cx="9206865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保证质量的前提下按期交付，提升团队交付能力和业务满意度</a:t>
            </a:r>
            <a:endParaRPr lang="zh-CN" altLang="en-US" sz="1600" dirty="0">
              <a:sym typeface="+mn-lt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517475" y="4327605"/>
            <a:ext cx="320692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>
                <a:sym typeface="+mn-lt"/>
              </a:rPr>
              <a:t>系统稳定</a:t>
            </a:r>
            <a:r>
              <a:rPr lang="zh-CN" altLang="en-US" b="1" dirty="0">
                <a:sym typeface="+mn-lt"/>
              </a:rPr>
              <a:t>运行</a:t>
            </a:r>
            <a:endParaRPr lang="zh-CN" altLang="en-US" b="1" dirty="0"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62059" y="4591230"/>
            <a:ext cx="9206865" cy="1207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提高系统的稳定性，减少线上故障的发生频率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监控机构接口稳定性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及时发现</a:t>
            </a:r>
            <a:r>
              <a:rPr lang="zh-CN" altLang="en-US" sz="1600" dirty="0">
                <a:sym typeface="+mn-lt"/>
              </a:rPr>
              <a:t>问题</a:t>
            </a:r>
            <a:r>
              <a:rPr lang="zh-CN" altLang="en-US" sz="1600" dirty="0">
                <a:sym typeface="+mn-lt"/>
              </a:rPr>
              <a:t>并推动</a:t>
            </a:r>
            <a:r>
              <a:rPr lang="zh-CN" altLang="en-US" sz="1600" dirty="0">
                <a:sym typeface="+mn-lt"/>
              </a:rPr>
              <a:t>机构解决</a:t>
            </a:r>
            <a:endParaRPr lang="en-US" altLang="zh-CN" sz="1600" dirty="0"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1517477" y="1490731"/>
            <a:ext cx="9207037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zh-CN" altLang="en-US" sz="1600" dirty="0">
                <a:sym typeface="+mn-lt"/>
              </a:rPr>
              <a:t>整体进度较慢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共</a:t>
            </a:r>
            <a:r>
              <a:rPr lang="en-US" altLang="zh-CN" sz="1600" dirty="0">
                <a:sym typeface="+mn-lt"/>
              </a:rPr>
              <a:t>65</a:t>
            </a:r>
            <a:r>
              <a:rPr lang="zh-CN" altLang="en-US" sz="1600" dirty="0">
                <a:sym typeface="+mn-lt"/>
              </a:rPr>
              <a:t>家已梳理</a:t>
            </a:r>
            <a:r>
              <a:rPr lang="en-US" altLang="zh-CN" sz="1600" dirty="0">
                <a:sym typeface="+mn-lt"/>
              </a:rPr>
              <a:t>37</a:t>
            </a:r>
            <a:r>
              <a:rPr lang="zh-CN" altLang="en-US" sz="1600" dirty="0">
                <a:sym typeface="+mn-lt"/>
              </a:rPr>
              <a:t>家</a:t>
            </a:r>
            <a:r>
              <a:rPr lang="en-US" altLang="zh-CN" sz="1600" dirty="0">
                <a:sym typeface="+mn-lt"/>
              </a:rPr>
              <a:t>。</a:t>
            </a:r>
            <a:endParaRPr lang="zh-CN" altLang="en-US" sz="1600" dirty="0">
              <a:sym typeface="+mn-lt"/>
            </a:endParaRPr>
          </a:p>
          <a:p>
            <a:pPr indent="0" algn="just">
              <a:lnSpc>
                <a:spcPct val="200000"/>
              </a:lnSpc>
              <a:buFont typeface="Arial" panose="020B0604020202090204" pitchFamily="34" charset="0"/>
              <a:buNone/>
            </a:pPr>
            <a:endParaRPr lang="zh-CN" altLang="en-US" sz="1600" dirty="0">
              <a:sym typeface="+mn-lt"/>
            </a:endParaRPr>
          </a:p>
          <a:p>
            <a:pPr indent="0" algn="just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zh-CN" altLang="en-US" sz="1600" dirty="0">
                <a:sym typeface="+mn-lt"/>
              </a:rPr>
              <a:t>阶段</a:t>
            </a:r>
            <a:r>
              <a:rPr lang="zh-CN" altLang="en-US" sz="1600" dirty="0">
                <a:sym typeface="+mn-lt"/>
              </a:rPr>
              <a:t>性成果</a:t>
            </a:r>
            <a:r>
              <a:rPr lang="en-US" altLang="zh-CN" sz="1600" dirty="0">
                <a:sym typeface="+mn-lt"/>
              </a:rPr>
              <a:t>：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还款计划异常场景梳理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还款计划数据合规细则制定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校验脚本编写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已梳理</a:t>
            </a:r>
            <a:r>
              <a:rPr lang="en-US" altLang="zh-CN" sz="1600" dirty="0">
                <a:sym typeface="+mn-lt"/>
              </a:rPr>
              <a:t>37</a:t>
            </a:r>
            <a:r>
              <a:rPr lang="zh-CN" altLang="en-US" sz="1600" dirty="0">
                <a:sym typeface="+mn-lt"/>
              </a:rPr>
              <a:t>家机构还款计划并推进优化（其中无需整改、已整改共计</a:t>
            </a:r>
            <a:r>
              <a:rPr lang="en-US" altLang="zh-CN" sz="1600" dirty="0">
                <a:sym typeface="+mn-lt"/>
              </a:rPr>
              <a:t>15</a:t>
            </a:r>
            <a:r>
              <a:rPr lang="zh-CN" altLang="en-US" sz="1600" dirty="0">
                <a:sym typeface="+mn-lt"/>
              </a:rPr>
              <a:t>家）</a:t>
            </a:r>
            <a:endParaRPr lang="zh-CN" altLang="en-US" sz="1600" dirty="0">
              <a:sym typeface="+mn-lt"/>
            </a:endParaRPr>
          </a:p>
        </p:txBody>
      </p:sp>
      <p:sp>
        <p:nvSpPr>
          <p:cNvPr id="41" name="TextBox 2"/>
          <p:cNvSpPr txBox="1"/>
          <p:nvPr/>
        </p:nvSpPr>
        <p:spPr>
          <a:xfrm>
            <a:off x="1517476" y="1059000"/>
            <a:ext cx="3206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en-US" altLang="zh-CN" b="1" dirty="0">
                <a:sym typeface="+mn-lt"/>
              </a:rPr>
              <a:t>OKR-</a:t>
            </a:r>
            <a:r>
              <a:rPr lang="zh-CN" altLang="en-US" b="1" dirty="0">
                <a:sym typeface="+mn-lt"/>
              </a:rPr>
              <a:t>数据治理项目</a:t>
            </a:r>
            <a:endParaRPr lang="zh-CN" altLang="en-US" b="1" dirty="0"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1517477" y="1490731"/>
            <a:ext cx="9207037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zh-CN" altLang="en-US" sz="1600" dirty="0">
                <a:sym typeface="+mn-lt"/>
              </a:rPr>
              <a:t>进度不及预期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首复贷标签一直未</a:t>
            </a:r>
            <a:r>
              <a:rPr lang="zh-CN" altLang="en-US" sz="1600" dirty="0">
                <a:sym typeface="+mn-lt"/>
              </a:rPr>
              <a:t>有实质性进展</a:t>
            </a:r>
            <a:r>
              <a:rPr lang="en-US" altLang="zh-CN" sz="1600" dirty="0">
                <a:sym typeface="+mn-lt"/>
              </a:rPr>
              <a:t>。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ym typeface="+mn-lt"/>
            </a:endParaRPr>
          </a:p>
          <a:p>
            <a:pPr indent="0" algn="just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zh-CN" altLang="en-US" sz="1600" dirty="0">
                <a:sym typeface="+mn-lt"/>
              </a:rPr>
              <a:t>阶段性成果</a:t>
            </a:r>
            <a:r>
              <a:rPr lang="en-US" altLang="zh-CN" sz="1600" dirty="0">
                <a:sym typeface="+mn-lt"/>
              </a:rPr>
              <a:t>：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>
                <a:sym typeface="+mn-lt"/>
              </a:rPr>
              <a:t>11</a:t>
            </a:r>
            <a:r>
              <a:rPr lang="zh-CN" altLang="en-US" sz="1600" dirty="0">
                <a:sym typeface="+mn-lt"/>
              </a:rPr>
              <a:t>家循环</a:t>
            </a:r>
            <a:r>
              <a:rPr lang="zh-CN" altLang="en-US" sz="1600" dirty="0">
                <a:sym typeface="+mn-lt"/>
              </a:rPr>
              <a:t>额度机构产品接入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首复贷标签，技术侧梳理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首复贷标签及应用，业务侧停滞一段时间，积极向上反馈推动后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业务侧还是</a:t>
            </a:r>
            <a:r>
              <a:rPr lang="zh-CN" altLang="en-US" sz="1600" dirty="0">
                <a:sym typeface="+mn-lt"/>
              </a:rPr>
              <a:t>无进展</a:t>
            </a:r>
            <a:endParaRPr lang="zh-CN" altLang="en-US" sz="1600" dirty="0">
              <a:sym typeface="+mn-lt"/>
            </a:endParaRPr>
          </a:p>
        </p:txBody>
      </p:sp>
      <p:sp>
        <p:nvSpPr>
          <p:cNvPr id="41" name="TextBox 2"/>
          <p:cNvSpPr txBox="1"/>
          <p:nvPr/>
        </p:nvSpPr>
        <p:spPr>
          <a:xfrm>
            <a:off x="1517650" y="1059180"/>
            <a:ext cx="3669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en-US" altLang="zh-CN" b="1" dirty="0">
                <a:sym typeface="+mn-lt"/>
              </a:rPr>
              <a:t>OKR-</a:t>
            </a:r>
            <a:r>
              <a:rPr lang="zh-CN" altLang="en-US" b="1" dirty="0">
                <a:sym typeface="+mn-lt"/>
              </a:rPr>
              <a:t>循环额度机构优化调整项目 </a:t>
            </a:r>
            <a:endParaRPr lang="zh-CN" altLang="en-US" b="1" dirty="0"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6842" y="5531871"/>
            <a:ext cx="920703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zh-CN" altLang="en-US" sz="1600" dirty="0">
                <a:sym typeface="+mn-lt"/>
              </a:rPr>
              <a:t>完成</a:t>
            </a:r>
            <a:r>
              <a:rPr lang="en-US" altLang="zh-CN" sz="1600" dirty="0">
                <a:sym typeface="+mn-lt"/>
              </a:rPr>
              <a:t>12</a:t>
            </a:r>
            <a:r>
              <a:rPr lang="zh-CN" altLang="en-US" sz="1600" dirty="0">
                <a:sym typeface="+mn-lt"/>
              </a:rPr>
              <a:t>家机构产品接入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业绩不达标</a:t>
            </a:r>
            <a:endParaRPr lang="en-US" altLang="zh-CN" sz="1600" dirty="0">
              <a:sym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16842" y="5100140"/>
            <a:ext cx="2548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>
                <a:sym typeface="+mn-lt"/>
              </a:rPr>
              <a:t>机构对接</a:t>
            </a:r>
            <a:endParaRPr lang="zh-CN" altLang="en-US" b="1" dirty="0"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1" grpId="0"/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2"/>
          <p:cNvSpPr txBox="1"/>
          <p:nvPr/>
        </p:nvSpPr>
        <p:spPr>
          <a:xfrm>
            <a:off x="1517650" y="1059180"/>
            <a:ext cx="376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000000"/>
              </a:buClr>
              <a:buFont typeface="Arial" panose="020B0604020202090204"/>
              <a:buNone/>
              <a:defRPr b="1"/>
            </a:lvl1pPr>
          </a:lstStyle>
          <a:p>
            <a:r>
              <a:rPr lang="zh-CN" altLang="en-US" dirty="0">
                <a:sym typeface="+mn-lt"/>
              </a:rPr>
              <a:t>机构稳定性</a:t>
            </a:r>
            <a:r>
              <a:rPr lang="zh-CN" altLang="en-US" dirty="0">
                <a:sym typeface="+mn-lt"/>
              </a:rPr>
              <a:t>监控</a:t>
            </a:r>
            <a:endParaRPr lang="zh-CN" altLang="en-US" dirty="0"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290" y="1427480"/>
            <a:ext cx="3408680" cy="33032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0" y="4375785"/>
            <a:ext cx="3942080" cy="2365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335" y="1696720"/>
            <a:ext cx="5158105" cy="27647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30570" y="5198745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ct val="200000"/>
              </a:lnSpc>
              <a:buFont typeface="Arial" panose="020B0604020202090204" pitchFamily="34" charset="0"/>
              <a:buNone/>
            </a:pPr>
            <a:r>
              <a:rPr lang="zh-CN" altLang="en-US" sz="1600" dirty="0">
                <a:sym typeface="+mn-lt"/>
              </a:rPr>
              <a:t>通过监控告警</a:t>
            </a:r>
            <a:r>
              <a:rPr lang="en-US" altLang="zh-CN" sz="1600" dirty="0">
                <a:sym typeface="+mn-lt"/>
              </a:rPr>
              <a:t> + </a:t>
            </a:r>
            <a:r>
              <a:rPr lang="zh-CN" altLang="en-US" sz="1600" dirty="0">
                <a:sym typeface="+mn-lt"/>
              </a:rPr>
              <a:t>值班机制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及时处理机构问题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为</a:t>
            </a:r>
            <a:r>
              <a:rPr lang="zh-CN" altLang="en-US" sz="1600" dirty="0">
                <a:sym typeface="+mn-lt"/>
              </a:rPr>
              <a:t>公司减少业务损失</a:t>
            </a:r>
            <a:r>
              <a:rPr lang="en-US" altLang="zh-CN" sz="1600" dirty="0">
                <a:sym typeface="+mn-lt"/>
              </a:rPr>
              <a:t>。</a:t>
            </a:r>
            <a:endParaRPr lang="en-US" altLang="zh-CN" sz="1600" dirty="0"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1"/>
      <p:bldP spid="41" grpId="2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1517650" y="1603375"/>
            <a:ext cx="9206865" cy="3265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  <a:defRPr sz="1600"/>
            </a:lvl1pPr>
          </a:lstStyle>
          <a:p>
            <a:pPr marL="0" indent="0">
              <a:buNone/>
            </a:pPr>
            <a:r>
              <a:rPr lang="zh-CN" altLang="en-US" dirty="0">
                <a:sym typeface="+mn-lt"/>
              </a:rPr>
              <a:t>优化进度不达</a:t>
            </a:r>
            <a:r>
              <a:rPr lang="zh-CN" altLang="en-US" dirty="0">
                <a:sym typeface="+mn-lt"/>
              </a:rPr>
              <a:t>预期</a:t>
            </a:r>
            <a:endParaRPr lang="zh-CN" altLang="en-US" dirty="0">
              <a:sym typeface="+mn-lt"/>
            </a:endParaRPr>
          </a:p>
          <a:p>
            <a:endParaRPr lang="zh-CN" altLang="en-US" dirty="0">
              <a:sym typeface="+mn-lt"/>
            </a:endParaRPr>
          </a:p>
          <a:p>
            <a:pPr marL="0" indent="0">
              <a:buNone/>
            </a:pPr>
            <a:r>
              <a:rPr lang="zh-CN" altLang="en-US" dirty="0">
                <a:sym typeface="+mn-lt"/>
              </a:rPr>
              <a:t>阶段性成果</a:t>
            </a:r>
            <a:r>
              <a:rPr lang="en-US" altLang="zh-CN" dirty="0">
                <a:sym typeface="+mn-lt"/>
              </a:rPr>
              <a:t>：</a:t>
            </a:r>
            <a:endParaRPr lang="zh-CN" altLang="en-US" dirty="0">
              <a:sym typeface="+mn-lt"/>
            </a:endParaRPr>
          </a:p>
          <a:p>
            <a:r>
              <a:rPr lang="zh-CN" altLang="en-US" dirty="0">
                <a:sym typeface="+mn-lt"/>
              </a:rPr>
              <a:t>放款交易流水查询性能优化</a:t>
            </a:r>
            <a:r>
              <a:rPr lang="en-US" altLang="zh-CN" dirty="0">
                <a:sym typeface="+mn-lt"/>
              </a:rPr>
              <a:t>，</a:t>
            </a:r>
            <a:r>
              <a:rPr lang="zh-CN" altLang="en-US" dirty="0">
                <a:sym typeface="+mn-lt"/>
              </a:rPr>
              <a:t>减少响应时间</a:t>
            </a:r>
            <a:r>
              <a:rPr lang="en-US" altLang="zh-CN" dirty="0">
                <a:sym typeface="+mn-lt"/>
              </a:rPr>
              <a:t>，</a:t>
            </a:r>
            <a:r>
              <a:rPr lang="zh-CN" altLang="en-US" dirty="0">
                <a:sym typeface="+mn-lt"/>
              </a:rPr>
              <a:t>提升用户体检</a:t>
            </a:r>
            <a:endParaRPr lang="en-US" altLang="zh-CN" dirty="0">
              <a:sym typeface="+mn-lt"/>
            </a:endParaRPr>
          </a:p>
          <a:p>
            <a:r>
              <a:rPr lang="zh-CN" altLang="en-US" dirty="0">
                <a:sym typeface="+mn-lt"/>
              </a:rPr>
              <a:t>账户变更原因日志优化</a:t>
            </a:r>
            <a:r>
              <a:rPr lang="en-US" altLang="zh-CN" dirty="0">
                <a:sym typeface="+mn-lt"/>
              </a:rPr>
              <a:t>，</a:t>
            </a:r>
            <a:r>
              <a:rPr lang="zh-CN" altLang="en-US" dirty="0">
                <a:sym typeface="+mn-lt"/>
              </a:rPr>
              <a:t>及时响应客服问题</a:t>
            </a:r>
            <a:endParaRPr lang="en-US" altLang="zh-CN" dirty="0">
              <a:sym typeface="+mn-lt"/>
            </a:endParaRPr>
          </a:p>
          <a:p>
            <a:r>
              <a:rPr lang="zh-CN" altLang="en-US" dirty="0">
                <a:sym typeface="+mn-lt"/>
              </a:rPr>
              <a:t>开发重复介入的</a:t>
            </a:r>
            <a:r>
              <a:rPr lang="en-US" altLang="zh-CN" dirty="0">
                <a:sym typeface="+mn-lt"/>
              </a:rPr>
              <a:t>，</a:t>
            </a:r>
            <a:r>
              <a:rPr lang="zh-CN" altLang="en-US" dirty="0">
                <a:sym typeface="+mn-lt"/>
              </a:rPr>
              <a:t>开发功能，提升工作效率</a:t>
            </a:r>
            <a:r>
              <a:rPr lang="en-US" altLang="zh-CN" dirty="0">
                <a:sym typeface="+mn-lt"/>
              </a:rPr>
              <a:t>，</a:t>
            </a:r>
            <a:r>
              <a:rPr lang="zh-CN" altLang="en-US" dirty="0">
                <a:sym typeface="+mn-lt"/>
              </a:rPr>
              <a:t>如放款卡件中的定时提醒</a:t>
            </a:r>
            <a:r>
              <a:rPr lang="zh-CN" altLang="en-US" dirty="0">
                <a:sym typeface="+mn-lt"/>
              </a:rPr>
              <a:t>功能</a:t>
            </a:r>
            <a:endParaRPr lang="zh-CN" altLang="en-US" dirty="0">
              <a:sym typeface="+mn-lt"/>
            </a:endParaRPr>
          </a:p>
        </p:txBody>
      </p:sp>
      <p:sp>
        <p:nvSpPr>
          <p:cNvPr id="41" name="TextBox 2"/>
          <p:cNvSpPr txBox="1"/>
          <p:nvPr/>
        </p:nvSpPr>
        <p:spPr>
          <a:xfrm>
            <a:off x="1517650" y="1059180"/>
            <a:ext cx="3763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000000"/>
              </a:buClr>
              <a:buFont typeface="Arial" panose="020B0604020202090204"/>
              <a:buNone/>
              <a:defRPr b="1"/>
            </a:lvl1pPr>
          </a:lstStyle>
          <a:p>
            <a:r>
              <a:rPr lang="zh-CN" altLang="en-US" dirty="0">
                <a:sym typeface="+mn-lt"/>
              </a:rPr>
              <a:t>技术优化</a:t>
            </a:r>
            <a:endParaRPr lang="zh-CN" altLang="en-US" dirty="0"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1"/>
      <p:bldP spid="33" grpId="2"/>
      <p:bldP spid="41" grpId="1"/>
      <p:bldP spid="41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1517477" y="1613286"/>
            <a:ext cx="9207037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帮助2位新成员快速融入团队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提</a:t>
            </a:r>
            <a:r>
              <a:rPr lang="zh-CN" altLang="en-US" sz="1600" dirty="0">
                <a:sym typeface="+mn-lt"/>
              </a:rPr>
              <a:t>测缺陷数量部门最</a:t>
            </a:r>
            <a:r>
              <a:rPr lang="zh-CN" altLang="en-US" sz="1600" dirty="0">
                <a:sym typeface="+mn-lt"/>
              </a:rPr>
              <a:t>低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一</a:t>
            </a:r>
            <a:r>
              <a:rPr lang="zh-CN" altLang="en-US" sz="1600" dirty="0">
                <a:sym typeface="+mn-lt"/>
              </a:rPr>
              <a:t>名骨干成员培养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核心知识共享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endParaRPr lang="zh-CN" altLang="en-US" sz="1600" dirty="0">
              <a:sym typeface="+mn-lt"/>
            </a:endParaRPr>
          </a:p>
        </p:txBody>
      </p:sp>
      <p:sp>
        <p:nvSpPr>
          <p:cNvPr id="41" name="TextBox 2"/>
          <p:cNvSpPr txBox="1"/>
          <p:nvPr/>
        </p:nvSpPr>
        <p:spPr>
          <a:xfrm>
            <a:off x="1517650" y="1059180"/>
            <a:ext cx="376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>
                <a:sym typeface="+mn-lt"/>
              </a:rPr>
              <a:t>团队管理</a:t>
            </a:r>
            <a:endParaRPr lang="zh-CN" altLang="en-US" b="1" dirty="0"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3" grpId="1"/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1517650" y="1059180"/>
            <a:ext cx="376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>
                <a:sym typeface="+mn-lt"/>
              </a:rPr>
              <a:t>需求无疾而终</a:t>
            </a:r>
            <a:endParaRPr lang="zh-CN" altLang="en-US" b="1" dirty="0"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17650" y="1637817"/>
            <a:ext cx="89065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/>
              <a:t>问题描述：业务调整需求停止</a:t>
            </a:r>
            <a:r>
              <a:rPr lang="en-US" altLang="zh-CN" sz="1600" dirty="0"/>
              <a:t>、</a:t>
            </a:r>
            <a:r>
              <a:rPr lang="zh-CN" altLang="en-US" sz="1600" dirty="0"/>
              <a:t>上线后功能未开</a:t>
            </a:r>
            <a:r>
              <a:rPr lang="zh-CN" altLang="en-US" sz="1600" dirty="0"/>
              <a:t>放</a:t>
            </a:r>
            <a:endParaRPr lang="zh-CN" altLang="en-US" sz="1600" dirty="0"/>
          </a:p>
        </p:txBody>
      </p:sp>
      <p:sp>
        <p:nvSpPr>
          <p:cNvPr id="2" name="文本框 1"/>
          <p:cNvSpPr txBox="1"/>
          <p:nvPr/>
        </p:nvSpPr>
        <p:spPr>
          <a:xfrm>
            <a:off x="1517650" y="2210435"/>
            <a:ext cx="8804910" cy="3014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AutoNum type="arabicPeriod"/>
            </a:pPr>
            <a:r>
              <a:rPr lang="zh-CN" altLang="en-US" sz="1600" dirty="0"/>
              <a:t>全民钱包，首复贷标签对接</a:t>
            </a:r>
            <a:endParaRPr lang="zh-CN" altLang="en-US" sz="1600" dirty="0"/>
          </a:p>
          <a:p>
            <a:pPr>
              <a:lnSpc>
                <a:spcPct val="130000"/>
              </a:lnSpc>
            </a:pPr>
            <a:r>
              <a:rPr lang="en-US" altLang="zh-CN" sz="1600" dirty="0"/>
              <a:t>   </a:t>
            </a:r>
            <a:r>
              <a:rPr lang="zh-CN" altLang="en-US" sz="1600" dirty="0"/>
              <a:t>3月初我方开发完后一直未与机构联调，原因：不确定全民机构什么时候恢复开量。</a:t>
            </a:r>
            <a:endParaRPr lang="zh-CN" altLang="en-US" sz="1600" dirty="0"/>
          </a:p>
          <a:p>
            <a:pPr marL="342900" indent="-342900">
              <a:lnSpc>
                <a:spcPct val="130000"/>
              </a:lnSpc>
              <a:buFont typeface="+mj-lt"/>
              <a:buAutoNum type="arabicPeriod" startAt="2"/>
            </a:pPr>
            <a:r>
              <a:rPr lang="zh-CN" altLang="en-US" sz="1600" dirty="0"/>
              <a:t>轻花优品</a:t>
            </a:r>
            <a:r>
              <a:rPr lang="en-US" altLang="zh-CN" sz="1600" dirty="0"/>
              <a:t>V2</a:t>
            </a:r>
            <a:r>
              <a:rPr lang="zh-CN" altLang="en-US" sz="1600" dirty="0"/>
              <a:t>，全流程</a:t>
            </a:r>
            <a:r>
              <a:rPr lang="en-US" altLang="zh-CN" sz="1600" dirty="0"/>
              <a:t>API</a:t>
            </a:r>
            <a:r>
              <a:rPr lang="zh-CN" altLang="en-US" sz="1600" dirty="0"/>
              <a:t>对接</a:t>
            </a:r>
            <a:endParaRPr lang="zh-CN" altLang="en-US" sz="1600" dirty="0"/>
          </a:p>
          <a:p>
            <a:pPr>
              <a:lnSpc>
                <a:spcPct val="130000"/>
              </a:lnSpc>
            </a:pPr>
            <a:r>
              <a:rPr lang="en-US" altLang="zh-CN" sz="1600" dirty="0"/>
              <a:t>   </a:t>
            </a:r>
            <a:r>
              <a:rPr lang="zh-CN" altLang="en-US" sz="1600" dirty="0"/>
              <a:t>我方开发完成后，与机构联调当天，被机构告知双融担资金没有了，暂停对接。</a:t>
            </a:r>
            <a:endParaRPr lang="en-US" altLang="zh-CN" sz="1600" dirty="0"/>
          </a:p>
          <a:p>
            <a:pPr marL="342900" indent="-342900">
              <a:lnSpc>
                <a:spcPct val="130000"/>
              </a:lnSpc>
              <a:buFont typeface="+mj-lt"/>
              <a:buAutoNum type="arabicPeriod" startAt="3"/>
            </a:pPr>
            <a:r>
              <a:rPr lang="zh-CN" altLang="en-US" sz="1600" dirty="0"/>
              <a:t>桔多多，</a:t>
            </a:r>
            <a:r>
              <a:rPr lang="en-US" altLang="zh-CN" sz="1600" dirty="0"/>
              <a:t>24+</a:t>
            </a:r>
            <a:r>
              <a:rPr lang="zh-CN" altLang="en-US" sz="1600" dirty="0"/>
              <a:t>权益模式对接</a:t>
            </a:r>
            <a:endParaRPr lang="zh-CN" altLang="en-US" sz="1600" dirty="0"/>
          </a:p>
          <a:p>
            <a:pPr>
              <a:lnSpc>
                <a:spcPct val="130000"/>
              </a:lnSpc>
            </a:pPr>
            <a:r>
              <a:rPr lang="en-US" altLang="zh-CN" sz="1600" dirty="0"/>
              <a:t>   2</a:t>
            </a:r>
            <a:r>
              <a:rPr lang="zh-CN" altLang="en-US" sz="1600" dirty="0"/>
              <a:t>月份上线后，权益基本都</a:t>
            </a:r>
            <a:r>
              <a:rPr lang="zh-CN" altLang="en-US" sz="1600" dirty="0"/>
              <a:t>是关闭状态，线上只有</a:t>
            </a:r>
            <a:r>
              <a:rPr lang="en-US" altLang="zh-CN" sz="1600" dirty="0"/>
              <a:t>11</a:t>
            </a:r>
            <a:r>
              <a:rPr lang="zh-CN" altLang="en-US" sz="1600" dirty="0"/>
              <a:t>笔权益订单。</a:t>
            </a:r>
            <a:endParaRPr lang="zh-CN" altLang="en-US" sz="1600" dirty="0"/>
          </a:p>
          <a:p>
            <a:pPr marL="342900" indent="-342900">
              <a:lnSpc>
                <a:spcPct val="130000"/>
              </a:lnSpc>
              <a:buFont typeface="+mj-lt"/>
              <a:buAutoNum type="arabicPeriod" startAt="3"/>
            </a:pPr>
            <a:r>
              <a:rPr lang="zh-CN" altLang="en-US" sz="1600" dirty="0">
                <a:sym typeface="+mn-ea"/>
              </a:rPr>
              <a:t>桔多多，提前结清</a:t>
            </a:r>
            <a:r>
              <a:rPr lang="zh-CN" altLang="en-US" sz="1600" dirty="0">
                <a:sym typeface="+mn-ea"/>
              </a:rPr>
              <a:t>功能对接</a:t>
            </a:r>
            <a:endParaRPr lang="zh-CN" altLang="en-US" sz="1600" dirty="0"/>
          </a:p>
          <a:p>
            <a:pPr>
              <a:lnSpc>
                <a:spcPct val="130000"/>
              </a:lnSpc>
            </a:pPr>
            <a:r>
              <a:rPr lang="en-US" altLang="zh-CN" sz="1600" dirty="0">
                <a:sym typeface="+mn-ea"/>
              </a:rPr>
              <a:t>   5</a:t>
            </a:r>
            <a:r>
              <a:rPr lang="zh-CN" altLang="en-US" sz="1600" dirty="0">
                <a:sym typeface="+mn-ea"/>
              </a:rPr>
              <a:t>月份需求评审完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我方自测完后</a:t>
            </a:r>
            <a:r>
              <a:rPr lang="en-US" altLang="zh-CN" sz="1600" dirty="0">
                <a:sym typeface="+mn-ea"/>
              </a:rPr>
              <a:t>，</a:t>
            </a:r>
            <a:r>
              <a:rPr lang="zh-CN" altLang="en-US" sz="1600" dirty="0">
                <a:sym typeface="+mn-ea"/>
              </a:rPr>
              <a:t>一直处于搁置</a:t>
            </a:r>
            <a:r>
              <a:rPr lang="zh-CN" altLang="en-US" sz="1600" dirty="0">
                <a:sym typeface="+mn-ea"/>
              </a:rPr>
              <a:t>状态。</a:t>
            </a:r>
            <a:endParaRPr lang="zh-CN" altLang="en-US" sz="1600" dirty="0"/>
          </a:p>
          <a:p>
            <a:pPr>
              <a:lnSpc>
                <a:spcPct val="130000"/>
              </a:lnSpc>
            </a:pPr>
            <a:endParaRPr lang="zh-CN" altLang="en-US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1517650" y="4796796"/>
            <a:ext cx="9207037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200000"/>
              </a:lnSpc>
            </a:pPr>
            <a:r>
              <a:rPr lang="zh-CN" altLang="en-US" sz="1600" dirty="0">
                <a:sym typeface="+mn-lt"/>
              </a:rPr>
              <a:t>优化建议：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因合作方原因导致的需求停止或优先级降低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信息</a:t>
            </a:r>
            <a:r>
              <a:rPr lang="zh-CN" altLang="en-US" sz="1600" dirty="0">
                <a:sym typeface="+mn-lt"/>
              </a:rPr>
              <a:t>需第一</a:t>
            </a:r>
            <a:r>
              <a:rPr lang="zh-CN" altLang="en-US" sz="1600" dirty="0">
                <a:sym typeface="+mn-lt"/>
              </a:rPr>
              <a:t>时间同步给产研</a:t>
            </a:r>
            <a:r>
              <a:rPr lang="zh-CN" altLang="en-US" sz="1600" dirty="0">
                <a:sym typeface="+mn-lt"/>
              </a:rPr>
              <a:t>部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严格的需求立项评审机制，禁止随意启动开发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定期需求</a:t>
            </a:r>
            <a:r>
              <a:rPr lang="zh-CN" altLang="en-US" sz="1600" dirty="0">
                <a:sym typeface="+mn-lt"/>
              </a:rPr>
              <a:t>复盘</a:t>
            </a:r>
            <a:endParaRPr lang="zh-CN" altLang="en-US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1517650" y="1059180"/>
            <a:ext cx="376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 panose="020B0604020202090204"/>
              <a:buNone/>
            </a:pPr>
            <a:r>
              <a:rPr lang="zh-CN" altLang="en-US" b="1" dirty="0"/>
              <a:t>技术文档质量需提升</a:t>
            </a:r>
            <a:endParaRPr lang="zh-CN" altLang="en-US" b="1" dirty="0"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17650" y="2334266"/>
            <a:ext cx="9207037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1600" dirty="0">
                <a:sym typeface="+mn-lt"/>
              </a:rPr>
              <a:t>优化建议：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设计文档规范化、模板化，提升可读性和评审效率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明确编写要求，确保关键信息不缺失，提高文档完整性和实用性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方案</a:t>
            </a:r>
            <a:r>
              <a:rPr lang="zh-CN" altLang="en-US" sz="1600" dirty="0">
                <a:sym typeface="+mn-lt"/>
              </a:rPr>
              <a:t>细节清晰后</a:t>
            </a:r>
            <a:r>
              <a:rPr lang="en-US" altLang="zh-CN" sz="1600" dirty="0">
                <a:sym typeface="+mn-lt"/>
              </a:rPr>
              <a:t>，</a:t>
            </a:r>
            <a:r>
              <a:rPr lang="zh-CN" altLang="en-US" sz="1600" dirty="0">
                <a:sym typeface="+mn-lt"/>
              </a:rPr>
              <a:t>任务拆解，提升工作量预估准确率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文档与代码协同更新，</a:t>
            </a:r>
            <a:r>
              <a:rPr lang="en-US" altLang="zh-CN" sz="1600" dirty="0">
                <a:sym typeface="+mn-lt"/>
              </a:rPr>
              <a:t>Code Review</a:t>
            </a:r>
            <a:r>
              <a:rPr lang="zh-CN" altLang="en-US" sz="1600" dirty="0">
                <a:sym typeface="+mn-lt"/>
              </a:rPr>
              <a:t>时确认相关文档是否更新，提升可信度</a:t>
            </a:r>
            <a:endParaRPr lang="en-US" altLang="zh-CN" sz="1600" dirty="0"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17650" y="1712112"/>
            <a:ext cx="890651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/>
              <a:t>问题描述：格式不统一、内容不详细</a:t>
            </a:r>
            <a:r>
              <a:rPr lang="zh-CN" altLang="en-US" sz="1600" dirty="0">
                <a:sym typeface="+mn-ea"/>
              </a:rPr>
              <a:t>、代码与文档有差异</a:t>
            </a:r>
            <a:r>
              <a:rPr lang="zh-CN" altLang="en-US" sz="1600" dirty="0"/>
              <a:t>、不利于工作量评估</a:t>
            </a:r>
            <a:r>
              <a:rPr lang="en-US" altLang="zh-CN" sz="1600" dirty="0"/>
              <a:t>、</a:t>
            </a:r>
            <a:r>
              <a:rPr lang="zh-CN" altLang="en-US" sz="1600" dirty="0"/>
              <a:t>不能正确把握组员节奏</a:t>
            </a:r>
            <a:endParaRPr lang="zh-CN" altLang="en-US" sz="1600" dirty="0"/>
          </a:p>
        </p:txBody>
      </p:sp>
    </p:spTree>
  </p:cSld>
  <p:clrMapOvr>
    <a:masterClrMapping/>
  </p:clrMapOvr>
  <p:transition spd="slow" advTm="3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1517650" y="1059180"/>
            <a:ext cx="376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设计阶段缺乏风险预判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517650" y="2334260"/>
            <a:ext cx="9206865" cy="2257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1600" dirty="0">
                <a:sym typeface="+mn-lt"/>
              </a:rPr>
              <a:t>优化建议：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引入风险评估</a:t>
            </a:r>
            <a:r>
              <a:rPr lang="en-US" altLang="zh-CN" sz="1600" dirty="0">
                <a:sym typeface="+mn-lt"/>
              </a:rPr>
              <a:t>Checklist</a:t>
            </a:r>
            <a:r>
              <a:rPr lang="zh-CN" altLang="en-US" sz="1600" dirty="0">
                <a:sym typeface="+mn-lt"/>
              </a:rPr>
              <a:t>（性能瓶颈、数据一致性、外部依赖、安全性、可维护性）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交叉</a:t>
            </a:r>
            <a:r>
              <a:rPr lang="en-US" altLang="zh-CN" sz="1600" dirty="0">
                <a:sym typeface="+mn-lt"/>
              </a:rPr>
              <a:t>Review</a:t>
            </a:r>
            <a:endParaRPr lang="en-US" altLang="zh-CN" sz="1600" dirty="0">
              <a:sym typeface="+mn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lt"/>
              </a:rPr>
              <a:t>建立典型问题案例库，用于后续设计参考</a:t>
            </a:r>
            <a:endParaRPr lang="en-US" altLang="zh-CN" sz="1600" dirty="0"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17650" y="1712112"/>
            <a:ext cx="8906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问题描述：未在设计阶段识别性能瓶颈、降低系统的可靠性、增加后期修复成本、影响团队协作与进度</a:t>
            </a:r>
            <a:endParaRPr lang="zh-CN" altLang="en-US" sz="1600" dirty="0"/>
          </a:p>
        </p:txBody>
      </p:sp>
    </p:spTree>
  </p:cSld>
  <p:clrMapOvr>
    <a:masterClrMapping/>
  </p:clrMapOvr>
  <p:transition spd="slow" advTm="30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762462" y="1490731"/>
            <a:ext cx="9207037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  <a:defRPr sz="1600"/>
            </a:lvl1pPr>
          </a:lstStyle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完成65家机构产品的梳理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针对梳理出的问题与机构沟通并协调资源推动机构优化</a:t>
            </a:r>
            <a:r>
              <a:rPr lang="en-US" altLang="zh-CN" dirty="0">
                <a:sym typeface="+mn-lt"/>
              </a:rPr>
              <a:t>，</a:t>
            </a:r>
            <a:r>
              <a:rPr lang="zh-CN" altLang="en-US" dirty="0">
                <a:sym typeface="+mn-lt"/>
              </a:rPr>
              <a:t>达成</a:t>
            </a:r>
            <a:r>
              <a:rPr lang="zh-CN" altLang="en-US" dirty="0">
                <a:sym typeface="+mn-lt"/>
              </a:rPr>
              <a:t>目标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我方存在的问题全部优化完毕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做好持续合规监控和机构的沟通</a:t>
            </a:r>
            <a:endParaRPr lang="zh-CN" altLang="en-US" dirty="0">
              <a:sym typeface="+mn-lt"/>
            </a:endParaRPr>
          </a:p>
          <a:p>
            <a:endParaRPr lang="zh-CN" altLang="en-US" dirty="0">
              <a:sym typeface="+mn-lt"/>
            </a:endParaRPr>
          </a:p>
        </p:txBody>
      </p:sp>
      <p:sp>
        <p:nvSpPr>
          <p:cNvPr id="41" name="TextBox 2"/>
          <p:cNvSpPr txBox="1"/>
          <p:nvPr/>
        </p:nvSpPr>
        <p:spPr>
          <a:xfrm>
            <a:off x="762635" y="1059180"/>
            <a:ext cx="376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000000"/>
              </a:buClr>
              <a:buFont typeface="Arial" panose="020B0604020202090204"/>
              <a:buNone/>
              <a:defRPr b="1"/>
            </a:lvl1pPr>
          </a:lstStyle>
          <a:p>
            <a:r>
              <a:rPr lang="zh-CN" altLang="en-US" dirty="0">
                <a:sym typeface="+mn-lt"/>
              </a:rPr>
              <a:t>数据治理项目</a:t>
            </a:r>
            <a:endParaRPr lang="zh-CN" altLang="en-US" dirty="0"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635" y="4269105"/>
            <a:ext cx="520636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  <a:defRPr sz="1600"/>
            </a:lvl1pPr>
          </a:lstStyle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每季度接入</a:t>
            </a:r>
            <a:r>
              <a:rPr lang="en-US" altLang="zh-CN" dirty="0">
                <a:sym typeface="+mn-lt"/>
              </a:rPr>
              <a:t>2～4</a:t>
            </a:r>
            <a:r>
              <a:rPr lang="zh-CN" altLang="en-US" dirty="0">
                <a:sym typeface="+mn-lt"/>
              </a:rPr>
              <a:t>家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首复贷标签及</a:t>
            </a:r>
            <a:r>
              <a:rPr lang="zh-CN" altLang="en-US" dirty="0">
                <a:sym typeface="+mn-lt"/>
              </a:rPr>
              <a:t>应用，继续推进</a:t>
            </a:r>
            <a:r>
              <a:rPr lang="en-US" altLang="zh-CN" dirty="0">
                <a:sym typeface="+mn-lt"/>
              </a:rPr>
              <a:t>，</a:t>
            </a:r>
            <a:r>
              <a:rPr lang="zh-CN" altLang="en-US" dirty="0">
                <a:sym typeface="+mn-lt"/>
              </a:rPr>
              <a:t>并积极向上反馈</a:t>
            </a:r>
            <a:r>
              <a:rPr lang="en-US" altLang="zh-CN" dirty="0">
                <a:sym typeface="+mn-lt"/>
              </a:rPr>
              <a:t>，</a:t>
            </a:r>
            <a:r>
              <a:rPr lang="zh-CN" altLang="en-US" dirty="0">
                <a:sym typeface="+mn-lt"/>
              </a:rPr>
              <a:t>争取落地</a:t>
            </a:r>
            <a:endParaRPr lang="zh-CN" altLang="en-US" dirty="0">
              <a:sym typeface="+mn-lt"/>
            </a:endParaRPr>
          </a:p>
          <a:p>
            <a:endParaRPr lang="zh-CN" altLang="en-US" dirty="0">
              <a:sym typeface="+mn-lt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889635" y="3900805"/>
            <a:ext cx="2945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000000"/>
              </a:buClr>
              <a:buFont typeface="Arial" panose="020B0604020202090204"/>
              <a:buNone/>
              <a:defRPr b="1"/>
            </a:lvl1pPr>
          </a:lstStyle>
          <a:p>
            <a:r>
              <a:rPr lang="zh-CN" altLang="en-US" dirty="0">
                <a:sym typeface="+mn-lt"/>
              </a:rPr>
              <a:t>循环额度机构优化调整项目</a:t>
            </a:r>
            <a:endParaRPr lang="zh-CN" altLang="en-US" dirty="0"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61332" y="4304416"/>
            <a:ext cx="9207037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  <a:defRPr sz="1600"/>
            </a:lvl1pPr>
          </a:lstStyle>
          <a:p>
            <a:r>
              <a:rPr lang="zh-CN" altLang="en-US" dirty="0">
                <a:sym typeface="+mn-lt"/>
              </a:rPr>
              <a:t>完成多家机构的业务对接优化</a:t>
            </a:r>
            <a:endParaRPr lang="en-US" altLang="zh-CN" dirty="0">
              <a:sym typeface="+mn-lt"/>
            </a:endParaRPr>
          </a:p>
          <a:p>
            <a:r>
              <a:rPr lang="zh-CN" altLang="en-US" dirty="0">
                <a:sym typeface="+mn-lt"/>
              </a:rPr>
              <a:t>配合机构业务模式调整，完成24+权益模式对接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配合hub支持24+权益模式对接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endParaRPr lang="zh-CN" altLang="en-US" dirty="0">
              <a:sym typeface="+mn-lt"/>
            </a:endParaRPr>
          </a:p>
          <a:p>
            <a:endParaRPr lang="zh-CN" altLang="en-US" dirty="0">
              <a:sym typeface="+mn-lt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6961505" y="3872865"/>
            <a:ext cx="376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000000"/>
              </a:buClr>
              <a:buFont typeface="Arial" panose="020B0604020202090204"/>
              <a:buNone/>
              <a:defRPr b="1"/>
            </a:lvl1pPr>
          </a:lstStyle>
          <a:p>
            <a:r>
              <a:rPr lang="zh-CN" altLang="en-US" dirty="0">
                <a:sym typeface="+mn-lt"/>
              </a:rPr>
              <a:t>机构业务对接</a:t>
            </a:r>
            <a:endParaRPr lang="zh-CN" altLang="en-US" dirty="0">
              <a:sym typeface="+mn-lt"/>
            </a:endParaRPr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1"/>
      <p:bldP spid="33" grpId="3"/>
      <p:bldP spid="41" grpId="1"/>
      <p:bldP spid="41" grpId="2"/>
      <p:bldP spid="4" grpId="1"/>
      <p:bldP spid="4" grpId="3"/>
      <p:bldP spid="5" grpId="1"/>
      <p:bldP spid="5" grpId="2"/>
      <p:bldP spid="6" grpId="1"/>
      <p:bldP spid="6" grpId="2"/>
      <p:bldP spid="7" grpId="1"/>
      <p:bldP spid="7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1517477" y="1490731"/>
            <a:ext cx="9207037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  <a:defRPr sz="1600"/>
            </a:lvl1pPr>
          </a:lstStyle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持续优化账务系统性能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lt"/>
              </a:rPr>
              <a:t>推进账务系统稳定性建设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新技术、部门新组件，应用到实际项目中</a:t>
            </a:r>
            <a:endParaRPr lang="zh-CN" altLang="en-US" dirty="0"/>
          </a:p>
          <a:p>
            <a:pPr algn="just">
              <a:lnSpc>
                <a:spcPct val="200000"/>
              </a:lnSpc>
              <a:buClrTx/>
              <a:buSzTx/>
              <a:buFont typeface="Arial" panose="020B0604020202090204" pitchFamily="34" charset="0"/>
              <a:buChar char="•"/>
            </a:pPr>
            <a:endParaRPr lang="zh-CN" altLang="en-US" dirty="0">
              <a:sym typeface="+mn-lt"/>
            </a:endParaRPr>
          </a:p>
          <a:p>
            <a:endParaRPr lang="zh-CN" altLang="en-US" dirty="0">
              <a:sym typeface="+mn-lt"/>
            </a:endParaRPr>
          </a:p>
        </p:txBody>
      </p:sp>
      <p:sp>
        <p:nvSpPr>
          <p:cNvPr id="41" name="TextBox 2"/>
          <p:cNvSpPr txBox="1"/>
          <p:nvPr/>
        </p:nvSpPr>
        <p:spPr>
          <a:xfrm>
            <a:off x="1517650" y="1059180"/>
            <a:ext cx="376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000000"/>
              </a:buClr>
              <a:buFont typeface="Arial" panose="020B0604020202090204"/>
              <a:buNone/>
              <a:defRPr b="1"/>
            </a:lvl1pPr>
          </a:lstStyle>
          <a:p>
            <a:r>
              <a:rPr lang="zh-CN" altLang="en-US" dirty="0">
                <a:sym typeface="+mn-lt"/>
              </a:rPr>
              <a:t>技术深度提升</a:t>
            </a:r>
            <a:endParaRPr lang="zh-CN" altLang="en-US" dirty="0"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7650" y="4911725"/>
            <a:ext cx="87490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技术深度的提升，不仅是个人能力的突破，更是对团队效率和系统质量的长期保障。</a:t>
            </a:r>
            <a:endParaRPr lang="zh-CN" altLang="en-US"/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1"/>
      <p:bldP spid="33" grpId="2"/>
      <p:bldP spid="41" grpId="1"/>
      <p:bldP spid="41" grpId="2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1517477" y="1490731"/>
            <a:ext cx="9207037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  <a:defRPr sz="1600"/>
            </a:lvl1pPr>
          </a:lstStyle>
          <a:p>
            <a:r>
              <a:rPr lang="zh-CN" altLang="en-US" dirty="0">
                <a:sym typeface="+mn-ea"/>
              </a:rPr>
              <a:t>重要需求改动定期同步，减少</a:t>
            </a:r>
            <a:r>
              <a:rPr lang="zh-CN" altLang="en-US">
                <a:sym typeface="+mn-ea"/>
              </a:rPr>
              <a:t>信息差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技术设计的细化与</a:t>
            </a:r>
            <a:r>
              <a:rPr lang="zh-CN" altLang="en-US">
                <a:sym typeface="+mn-ea"/>
              </a:rPr>
              <a:t>透明化建设</a:t>
            </a:r>
            <a:endParaRPr lang="en-US" altLang="zh-CN" dirty="0"/>
          </a:p>
          <a:p>
            <a:r>
              <a:rPr lang="zh-CN" altLang="en-US" dirty="0">
                <a:sym typeface="+mn-lt"/>
              </a:rPr>
              <a:t>推动技术沉淀，完善系统文档和</a:t>
            </a:r>
            <a:r>
              <a:rPr lang="zh-CN" altLang="en-US">
                <a:sym typeface="+mn-lt"/>
              </a:rPr>
              <a:t>知识库建设</a:t>
            </a:r>
            <a:endParaRPr lang="en-US" altLang="zh-CN" dirty="0">
              <a:sym typeface="+mn-lt"/>
            </a:endParaRPr>
          </a:p>
          <a:p>
            <a:r>
              <a:rPr lang="zh-CN" altLang="en-US" dirty="0">
                <a:sym typeface="+mn-ea"/>
              </a:rPr>
              <a:t>定期组织复盘会议，总结经验教训</a:t>
            </a:r>
            <a:endParaRPr lang="zh-CN" altLang="en-US" dirty="0">
              <a:sym typeface="+mn-lt"/>
            </a:endParaRPr>
          </a:p>
        </p:txBody>
      </p:sp>
      <p:sp>
        <p:nvSpPr>
          <p:cNvPr id="41" name="TextBox 2"/>
          <p:cNvSpPr txBox="1"/>
          <p:nvPr/>
        </p:nvSpPr>
        <p:spPr>
          <a:xfrm>
            <a:off x="1517650" y="1059180"/>
            <a:ext cx="376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buClr>
                <a:srgbClr val="000000"/>
              </a:buClr>
              <a:buFont typeface="Arial" panose="020B0604020202090204"/>
              <a:buNone/>
              <a:defRPr b="1"/>
            </a:lvl1pPr>
          </a:lstStyle>
          <a:p>
            <a:r>
              <a:rPr lang="zh-CN" altLang="en-US" dirty="0">
                <a:sym typeface="+mn-lt"/>
              </a:rPr>
              <a:t>团队</a:t>
            </a:r>
            <a:r>
              <a:rPr lang="zh-CN" altLang="en-US">
                <a:sym typeface="+mn-lt"/>
              </a:rPr>
              <a:t>协作强化</a:t>
            </a:r>
            <a:endParaRPr lang="zh-CN" altLang="en-US" dirty="0"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7650" y="4944745"/>
            <a:ext cx="82632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高效的协作不是靠个人努力，而是通过机制保障、流程优化来实现的。</a:t>
            </a:r>
            <a:endParaRPr lang="zh-CN" altLang="en-US"/>
          </a:p>
        </p:txBody>
      </p:sp>
    </p:spTree>
  </p:cSld>
  <p:clrMapOvr>
    <a:masterClrMapping/>
  </p:clrMapOvr>
  <p:transition spd="slow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1"/>
      <p:bldP spid="33" grpId="2"/>
      <p:bldP spid="41" grpId="1"/>
      <p:bldP spid="41" grpId="2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hidden="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3429000"/>
            <a:ext cx="18842130" cy="6762750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9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1" b="75043"/>
          <a:stretch>
            <a:fillRect/>
          </a:stretch>
        </p:blipFill>
        <p:spPr>
          <a:xfrm>
            <a:off x="0" y="4161064"/>
            <a:ext cx="12192000" cy="2696936"/>
          </a:xfrm>
          <a:custGeom>
            <a:avLst/>
            <a:gdLst>
              <a:gd name="connsiteX0" fmla="*/ 0 w 12192000"/>
              <a:gd name="connsiteY0" fmla="*/ 0 h 2696936"/>
              <a:gd name="connsiteX1" fmla="*/ 12192000 w 12192000"/>
              <a:gd name="connsiteY1" fmla="*/ 0 h 2696936"/>
              <a:gd name="connsiteX2" fmla="*/ 12192000 w 12192000"/>
              <a:gd name="connsiteY2" fmla="*/ 2696936 h 2696936"/>
              <a:gd name="connsiteX3" fmla="*/ 0 w 12192000"/>
              <a:gd name="connsiteY3" fmla="*/ 2696936 h 2696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96936">
                <a:moveTo>
                  <a:pt x="0" y="0"/>
                </a:moveTo>
                <a:lnTo>
                  <a:pt x="12192000" y="0"/>
                </a:lnTo>
                <a:lnTo>
                  <a:pt x="12192000" y="2696936"/>
                </a:lnTo>
                <a:lnTo>
                  <a:pt x="0" y="2696936"/>
                </a:lnTo>
                <a:close/>
              </a:path>
            </a:pathLst>
          </a:custGeom>
        </p:spPr>
      </p:pic>
      <p:sp>
        <p:nvSpPr>
          <p:cNvPr id="79" name="椭圆 78"/>
          <p:cNvSpPr/>
          <p:nvPr/>
        </p:nvSpPr>
        <p:spPr>
          <a:xfrm rot="20446930">
            <a:off x="3540357" y="1052992"/>
            <a:ext cx="1111526" cy="1111526"/>
          </a:xfrm>
          <a:prstGeom prst="ellipse">
            <a:avLst/>
          </a:prstGeom>
          <a:gradFill>
            <a:gsLst>
              <a:gs pos="0">
                <a:srgbClr val="83AEF5">
                  <a:alpha val="0"/>
                </a:srgbClr>
              </a:gs>
              <a:gs pos="100000">
                <a:srgbClr val="83AEF5">
                  <a:alpha val="55000"/>
                </a:srgb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246758" y="2338682"/>
            <a:ext cx="3127497" cy="180049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dist">
              <a:defRPr sz="11100">
                <a:solidFill>
                  <a:schemeClr val="tx1">
                    <a:lumMod val="75000"/>
                    <a:lumOff val="25000"/>
                  </a:schemeClr>
                </a:solidFill>
                <a:latin typeface="汉真广标" pitchFamily="49" charset="-122"/>
                <a:ea typeface="汉真广标" pitchFamily="49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感谢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4558392" y="2840946"/>
            <a:ext cx="6312808" cy="1681161"/>
            <a:chOff x="4501242" y="2993346"/>
            <a:chExt cx="6312808" cy="1681161"/>
          </a:xfrm>
        </p:grpSpPr>
        <p:sp>
          <p:nvSpPr>
            <p:cNvPr id="74" name="矩形 73"/>
            <p:cNvSpPr/>
            <p:nvPr/>
          </p:nvSpPr>
          <p:spPr>
            <a:xfrm>
              <a:off x="4501242" y="4340679"/>
              <a:ext cx="2815772" cy="333828"/>
            </a:xfrm>
            <a:prstGeom prst="rect">
              <a:avLst/>
            </a:prstGeom>
            <a:gradFill flip="none" rotWithShape="1">
              <a:gsLst>
                <a:gs pos="0">
                  <a:srgbClr val="DCD7FF">
                    <a:alpha val="0"/>
                  </a:srgbClr>
                </a:gs>
                <a:gs pos="100000">
                  <a:srgbClr val="C1B5EF">
                    <a:alpha val="91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8709478" y="2993346"/>
              <a:ext cx="2104572" cy="352196"/>
            </a:xfrm>
            <a:prstGeom prst="rect">
              <a:avLst/>
            </a:prstGeom>
            <a:gradFill flip="none" rotWithShape="1">
              <a:gsLst>
                <a:gs pos="0">
                  <a:srgbClr val="DCD7FF">
                    <a:alpha val="0"/>
                  </a:srgbClr>
                </a:gs>
                <a:gs pos="100000">
                  <a:srgbClr val="C1B5EF">
                    <a:alpha val="91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Tm="9000">
    <p:fade/>
  </p:transition>
</p:sld>
</file>

<file path=ppt/tags/tag1.xml><?xml version="1.0" encoding="utf-8"?>
<p:tagLst xmlns:p="http://schemas.openxmlformats.org/presentationml/2006/main">
  <p:tag name="CROP" val="CropOriginal"/>
</p:tagLst>
</file>

<file path=ppt/tags/tag2.xml><?xml version="1.0" encoding="utf-8"?>
<p:tagLst xmlns:p="http://schemas.openxmlformats.org/presentationml/2006/main">
  <p:tag name="CROP" val="CropOriginal"/>
</p:tagLst>
</file>

<file path=ppt/tags/tag3.xml><?xml version="1.0" encoding="utf-8"?>
<p:tagLst xmlns:p="http://schemas.openxmlformats.org/presentationml/2006/main">
  <p:tag name="COMMONDATA" val="eyJoZGlkIjoiZmE0MTIwZmM5MTcyMTU2MWQwMmMxOGE0OGM3ZTQ5NTc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n0scqf1">
      <a:majorFont>
        <a:latin typeface="字魂58号-创中黑"/>
        <a:ea typeface="字魂58号-创中黑"/>
        <a:cs typeface=""/>
      </a:majorFont>
      <a:minorFont>
        <a:latin typeface="字魂58号-创中黑"/>
        <a:ea typeface="字魂58号-创中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n0scqf1">
      <a:majorFont>
        <a:latin typeface="字魂58号-创中黑"/>
        <a:ea typeface="字魂58号-创中黑"/>
        <a:cs typeface=""/>
      </a:majorFont>
      <a:minorFont>
        <a:latin typeface="字魂58号-创中黑"/>
        <a:ea typeface="字魂58号-创中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1879</Words>
  <Application>WPS 表格</Application>
  <PresentationFormat>宽屏</PresentationFormat>
  <Paragraphs>227</Paragraphs>
  <Slides>17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汉仪旗黑</vt:lpstr>
      <vt:lpstr>Arial</vt:lpstr>
      <vt:lpstr>Calibri</vt:lpstr>
      <vt:lpstr>Helvetica Neue</vt:lpstr>
      <vt:lpstr>汉真广标</vt:lpstr>
      <vt:lpstr>苹方-简</vt:lpstr>
      <vt:lpstr>字魂58号-创中黑</vt:lpstr>
      <vt:lpstr>汉仪中黑KW</vt:lpstr>
      <vt:lpstr>宋体</vt:lpstr>
      <vt:lpstr>Arial Unicode MS</vt:lpstr>
      <vt:lpstr>等线</vt:lpstr>
      <vt:lpstr>汉仪中等线KW</vt:lpstr>
      <vt:lpstr>汉仪书宋二KW</vt:lpstr>
      <vt:lpstr>微软雅黑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述职报告</dc:title>
  <dc:creator>第一PPT</dc:creator>
  <cp:keywords>www.1ppt.com</cp:keywords>
  <dc:description>www.1ppt.com</dc:description>
  <cp:lastModifiedBy>赵鑫</cp:lastModifiedBy>
  <cp:revision>369</cp:revision>
  <dcterms:created xsi:type="dcterms:W3CDTF">2025-07-03T06:00:26Z</dcterms:created>
  <dcterms:modified xsi:type="dcterms:W3CDTF">2025-07-03T06:00:26Z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1220CE7946E55B345C7B636842573937_43</vt:lpwstr>
  </property>
  <property fmtid="{D5CDD505-2E9C-101B-9397-08002B2CF9AE}" pid="3" name="KSOProductBuildVer">
    <vt:lpwstr>2052-6.14.0.8924</vt:lpwstr>
  </property>
</Properties>
</file>